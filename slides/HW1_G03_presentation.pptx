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embeddedFontLst>
    <p:embeddedFont>
      <p:font typeface="Lato" panose="020F0502020204030203" pitchFamily="34" charset="0"/>
      <p:regular r:id="rId18"/>
      <p:bold r:id="rId19"/>
      <p:italic r:id="rId20"/>
      <p:boldItalic r:id="rId21"/>
    </p:embeddedFont>
    <p:embeddedFont>
      <p:font typeface="Merriweather" pitchFamily="2" charset="0"/>
      <p:regular r:id="rId22"/>
      <p:bold r:id="rId23"/>
      <p:italic r:id="rId24"/>
      <p:boldItalic r:id="rId25"/>
    </p:embeddedFont>
    <p:embeddedFont>
      <p:font typeface="Noto Sans TC" panose="020B0200000000000000"/>
      <p:regular r:id="rId26"/>
      <p:bold r:id="rId26"/>
      <p:italic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FB88B2B-F026-4F9C-AE6C-60BBE9297B5A}">
  <a:tblStyle styleId="{7FB88B2B-F026-4F9C-AE6C-60BBE9297B5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/>
    <p:restoredTop sz="94663"/>
  </p:normalViewPr>
  <p:slideViewPr>
    <p:cSldViewPr snapToGrid="0">
      <p:cViewPr varScale="1">
        <p:scale>
          <a:sx n="134" d="100"/>
          <a:sy n="134" d="100"/>
        </p:scale>
        <p:origin x="184" y="53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font" Target="fonts/font10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s01_slide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s01_slide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【W1｜10 秒】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大家好，我們是第 3 組。題目是在房子成交前預測成交價，資料是 Ames Housing，方法是可解釋的線性迴歸。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s02_slide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s02_slide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【W1｜30 秒】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情境是物件準備上架、還沒成交的時候。賣方和房仲要決定開價，買方要判斷開價合不合理。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選線性模型，是因為每個係數都能解讀成某個房屋條件值多少錢，使用者看得懂估價偏高或偏低的原因。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s03_slide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s03_slide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【W1｜35 秒】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任務定義：預測 SalePrice（美元），一筆資料是一次成交。輸入是 73 個房屋條件，加上我們設計的 QualityArea。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預測時間點是上架時，所以成交年月、交易類型、交易條件，以及要用成交年份才算得出的屋齡都不用。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研究問題：只用這些資訊，正則化線性模型能不能把 test MAE 控制在 15,000 美元內，而且不輸 Random Forest？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s04_slide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s04_slide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【W2｜30 秒】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資料共 1,460 筆，固定切成 1,168 / 292。只在 training 刪掉 2 筆異常值（居住面積超過 4,000 平方英尺、總價卻低於 30 萬美元），剩 1,166 筆，再固定切成 5 折，全組共用。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Test set 封存，只評一次。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s05_slide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s05_slide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【W2｜35 秒】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EDA 只用 training。品質 × 居住面積（QualityArea）和 log 房價的 r = 0.836，比單獨的品質 0.813、面積 0.719 都高。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直覺是：同樣一坪，蓋得越好的房子越值錢。由此提出 H1 到 H3，第 10 張用 ablation 驗證。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s06_slide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s06_slide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【W2｜40 秒】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流程是補值、序位編碼，再加入 QualityArea、Box-Cox、RobustScaler 和 one-hot，最後用 Elastic Net 預測 log 價格，經 expm1 轉回美元。需要由資料估計的前處理參數，只用各 fold 的 training 部分估計。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214 是最終完整訓練資料經前處理後的特徵總數，包含數值特徵與類別編碼欄位，並不是全部都是 one-hot 欄位。選 Elastic Net 是因為特徵有共線性，L1 + L2 可以收縮係數與選擇特徵。α 和 l1_ratio 由 training data 的 5-fold CV 選擇。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sch_slide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sch_slide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【W2｜35 秒】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我們遇到三個問題。第一是資料洩漏：成交後才知道的欄位要拿掉。第二是共線性：one-hot 後有 214 欄、VIF 最高到 67，所以不用一般 OLS。第三是房價右偏：偏態 1.74，取 log 後降到 0.12，誤差仍用美元報告。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走過的冤枉路：只留 MI 前 20 名特徵，CV RMSE 反而變差 18%。意外的是，線性模型在 test 上贏過 Random Forest。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sev_slide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sev_slide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【W2｜35 秒】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所有模型使用同一組 5-fold CV，前處理在各 fold 內估計，設定凍結後才評估 test。主要指標是美元 MAE，也就是平均絕對誤差。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Baseline 包含平均值、單一面積特徵的 OLS，以及 Random Forest。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15,000 美元是跑 test 前，將 CV MAE 的 mean + 2 SD 取整得到的經驗門檻，約為中位房價的 9%。這不是信賴區間，也不是每間房子的誤差上限。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第 10 頁有兩種比較：H1–H3 固定 Ridge 設定，特徵集合比較則使用 Elastic Net。各項比較沿用相同 folds。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s07_slide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s07_slide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【W2｜45 秒】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在表中的模型裡，只有 Elastic Net 通過門檻，test MAE 是 14,423，R² 是 0.935。CV MAE 是 13,366 ± 809，這裡的 ± 表示五折之間的標準差。三個 baseline 都未達門檻，Random Forest 的 test MAE 是 16,384。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右邊的 −1,961 是 Elastic Net 減去 Random Forest 的平均絕對誤差，表示平均誤差降低 1,961 美元，不代表每間房子都改善這個金額。配對 bootstrap 的 95% CI 不含 0，配對 permutation test 的 p = 0.017。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Lasso 的 CV MAE 和 Elastic Net 很接近，所以這裡只說優於表中的三個 baseline，不說贏過所有線性模型。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s08_slide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s08_slide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【W2｜35 秒】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Ablation 固定用 Ridge 和同樣的 5 折，只換特徵。H1 加入 QualityArea，RMSE 降 5.7%，5 折全部改善，所以採用。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H2、H3 只改善約 1%，沒有放進最終模型。只取 MI 前 20 名反而變差 18%。最終特徵是全部原始欄位加上 QualityArea。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s09_slide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s09_slide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【W2｜25 秒】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標準化係數最大的是 QualityArea、居住面積、建造年份，這 7 個的 bootstrap 95% CI 都不含 0。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但 VIF 很高，所以只解讀成關聯，不是獨立的因果效果；Holm 校正後也沒有係數維持顯著。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s10_slide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s10_slide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【W2｜35 秒】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品質 ≥ 8 的房子 MAE 是 27,636，是其他組的兩倍。誤差最大的三筆都是品質 8 到 9，而且都被低估，其中兩筆在 NridgHt。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可能原因是高品質新屋或特定社區的溢價，訓練資料裡這類房子少。這是推測，不是驗證過的因果。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s11_slide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s11_slide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【W1｜30 秒】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Sharma 2024 同樣用 Ames，XGBoost R² 0.930、線性迴歸 0.910，差距很小。Ho 2021 和 Limsombunchai 2004 用的是其他城市。各篇的資料和尺度不同，R² 不能直接比大小。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我們多做的：只用成交前資訊、test 封存只評一次、和強 baseline 做顯著性檢定。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stm_slide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stm_slide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【W1｜15 秒】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這是每位組員負責的部分。AI 工具的使用方式寫在下方，所有數字都由組員核對過。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s12_slide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s12_slide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【W1｜35 秒】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答案是 yes。Elastic Net 的 test MAE 是 14,423 美元，通過 15,000 門檻，而且比 Random Forest 每筆少 1,961。最有幫助的是品質 × 面積的交互作用。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建議：一般住宅可以拿模型當開價起點；高品質或新建住宅誤差較大，要保留議價空間或找正式鑑價。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/>
              <a:t>限制：單一城市、2006 到 2010 年；MAE 是平均值；CV 略為樂觀。下一步是加入新成屋指標。謝謝大家。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TW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A36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731520" y="1371600"/>
            <a:ext cx="76809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3600" b="1" dirty="0">
                <a:solidFill>
                  <a:srgbClr val="FFFFFF"/>
                </a:solidFill>
                <a:latin typeface="Merriweather"/>
                <a:ea typeface="Merriweather"/>
                <a:cs typeface="Merriweather"/>
                <a:sym typeface="Merriweather"/>
              </a:rPr>
              <a:t>Pricing Before the Sale</a:t>
            </a:r>
            <a:endParaRPr sz="3600" b="1" dirty="0">
              <a:solidFill>
                <a:srgbClr val="FFFFFF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55" name="Google Shape;55;p13"/>
          <p:cNvSpPr txBox="1"/>
          <p:nvPr/>
        </p:nvSpPr>
        <p:spPr>
          <a:xfrm>
            <a:off x="731520" y="2331720"/>
            <a:ext cx="76809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TW" sz="1800" dirty="0">
                <a:solidFill>
                  <a:srgbClr val="D6E0E8"/>
                </a:solidFill>
                <a:latin typeface="Lato"/>
                <a:ea typeface="Lato"/>
                <a:cs typeface="Lato"/>
                <a:sym typeface="Lato"/>
              </a:rPr>
              <a:t>An Interpretable Elastic Net for Ames Houses</a:t>
            </a:r>
            <a:endParaRPr sz="1800" dirty="0">
              <a:solidFill>
                <a:srgbClr val="D6E0E8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56" name="Google Shape;56;p13"/>
          <p:cNvSpPr txBox="1"/>
          <p:nvPr/>
        </p:nvSpPr>
        <p:spPr>
          <a:xfrm>
            <a:off x="731520" y="3108960"/>
            <a:ext cx="76809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9FB3C4"/>
                </a:solidFill>
                <a:latin typeface="Lato"/>
                <a:ea typeface="Lato"/>
                <a:cs typeface="Lato"/>
                <a:sym typeface="Lato"/>
              </a:rPr>
              <a:t>Data Mining HW1  ·  Group 3  ·  October 2026</a:t>
            </a:r>
            <a:endParaRPr>
              <a:solidFill>
                <a:srgbClr val="9FB3C4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57" name="Google Shape;57;p13"/>
          <p:cNvSpPr txBox="1"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500" dirty="0">
                <a:solidFill>
                  <a:srgbClr val="D6E0E8"/>
                </a:solidFill>
                <a:latin typeface="Noto Sans TC"/>
                <a:ea typeface="Noto Sans TC"/>
                <a:cs typeface="Noto Sans TC"/>
                <a:sym typeface="Noto Sans TC"/>
              </a:rPr>
              <a:t>周懷聖　范瀞予　李宗穎　劉嘉豪　張翊鞍　陳柏淮　陳家祥</a:t>
            </a:r>
            <a:endParaRPr sz="1500" dirty="0">
              <a:solidFill>
                <a:srgbClr val="D6E0E8"/>
              </a:solidFill>
              <a:latin typeface="Noto Sans TC"/>
              <a:ea typeface="Noto Sans TC"/>
              <a:cs typeface="Noto Sans TC"/>
              <a:sym typeface="Noto Sans T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/>
          <p:nvPr/>
        </p:nvSpPr>
        <p:spPr>
          <a:xfrm>
            <a:off x="457200" y="201168"/>
            <a:ext cx="8229600" cy="107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800" b="1">
                <a:solidFill>
                  <a:srgbClr val="1F2937"/>
                </a:solidFill>
                <a:latin typeface="Merriweather"/>
                <a:ea typeface="Merriweather"/>
                <a:cs typeface="Merriweather"/>
                <a:sym typeface="Merriweather"/>
              </a:rPr>
              <a:t>Sellers need a price estimate at listing time, before any sale data exists</a:t>
            </a:r>
            <a:endParaRPr sz="2800" b="1" dirty="0">
              <a:solidFill>
                <a:srgbClr val="1F2937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63" name="Google Shape;63;p14"/>
          <p:cNvSpPr/>
          <p:nvPr/>
        </p:nvSpPr>
        <p:spPr>
          <a:xfrm>
            <a:off x="457200" y="1417320"/>
            <a:ext cx="2560200" cy="3017400"/>
          </a:xfrm>
          <a:prstGeom prst="roundRect">
            <a:avLst>
              <a:gd name="adj" fmla="val 16667"/>
            </a:avLst>
          </a:prstGeom>
          <a:solidFill>
            <a:srgbClr val="E3EC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64;p14"/>
          <p:cNvSpPr txBox="1"/>
          <p:nvPr/>
        </p:nvSpPr>
        <p:spPr>
          <a:xfrm>
            <a:off x="594360" y="1554480"/>
            <a:ext cx="22860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800" b="1">
                <a:solidFill>
                  <a:srgbClr val="2F5D7C"/>
                </a:solidFill>
                <a:latin typeface="Merriweather"/>
                <a:ea typeface="Merriweather"/>
                <a:cs typeface="Merriweather"/>
                <a:sym typeface="Merriweather"/>
              </a:rPr>
              <a:t>Who uses it</a:t>
            </a:r>
            <a:endParaRPr sz="1800" b="1">
              <a:solidFill>
                <a:srgbClr val="2F5D7C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65" name="Google Shape;65;p14"/>
          <p:cNvSpPr txBox="1"/>
          <p:nvPr/>
        </p:nvSpPr>
        <p:spPr>
          <a:xfrm>
            <a:off x="594360" y="2057400"/>
            <a:ext cx="2286000" cy="224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Lato"/>
              <a:buChar char="●"/>
            </a:pPr>
            <a:r>
              <a:rPr lang="zh-TW" sz="1500">
                <a:solidFill>
                  <a:srgbClr val="1F2937"/>
                </a:solidFill>
                <a:latin typeface="Lato"/>
                <a:ea typeface="Lato"/>
                <a:cs typeface="Lato"/>
                <a:sym typeface="Lato"/>
              </a:rPr>
              <a:t>Sellers and agents setting an asking price</a:t>
            </a:r>
            <a:endParaRPr sz="1500">
              <a:solidFill>
                <a:srgbClr val="1F2937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Lato"/>
              <a:buChar char="●"/>
            </a:pPr>
            <a:r>
              <a:rPr lang="zh-TW" sz="1500">
                <a:solidFill>
                  <a:srgbClr val="1F2937"/>
                </a:solidFill>
                <a:latin typeface="Lato"/>
                <a:ea typeface="Lato"/>
                <a:cs typeface="Lato"/>
                <a:sym typeface="Lato"/>
              </a:rPr>
              <a:t>Buyers checking whether a listing is fair</a:t>
            </a:r>
            <a:endParaRPr sz="1500">
              <a:solidFill>
                <a:srgbClr val="1F2937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66" name="Google Shape;66;p14"/>
          <p:cNvSpPr/>
          <p:nvPr/>
        </p:nvSpPr>
        <p:spPr>
          <a:xfrm>
            <a:off x="3291840" y="1417320"/>
            <a:ext cx="2560200" cy="3017400"/>
          </a:xfrm>
          <a:prstGeom prst="roundRect">
            <a:avLst>
              <a:gd name="adj" fmla="val 16667"/>
            </a:avLst>
          </a:prstGeom>
          <a:solidFill>
            <a:srgbClr val="E3EC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14"/>
          <p:cNvSpPr txBox="1"/>
          <p:nvPr/>
        </p:nvSpPr>
        <p:spPr>
          <a:xfrm>
            <a:off x="3429000" y="1554480"/>
            <a:ext cx="22860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800" b="1">
                <a:solidFill>
                  <a:srgbClr val="2F5D7C"/>
                </a:solidFill>
                <a:latin typeface="Merriweather"/>
                <a:ea typeface="Merriweather"/>
                <a:cs typeface="Merriweather"/>
                <a:sym typeface="Merriweather"/>
              </a:rPr>
              <a:t>What it decides</a:t>
            </a:r>
            <a:endParaRPr sz="1800" b="1">
              <a:solidFill>
                <a:srgbClr val="2F5D7C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68" name="Google Shape;68;p14"/>
          <p:cNvSpPr txBox="1"/>
          <p:nvPr/>
        </p:nvSpPr>
        <p:spPr>
          <a:xfrm>
            <a:off x="3429000" y="2057400"/>
            <a:ext cx="2286000" cy="224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Lato"/>
              <a:buChar char="●"/>
            </a:pPr>
            <a:r>
              <a:rPr lang="zh-TW" sz="1500">
                <a:solidFill>
                  <a:srgbClr val="1F2937"/>
                </a:solidFill>
                <a:latin typeface="Lato"/>
                <a:ea typeface="Lato"/>
                <a:cs typeface="Lato"/>
                <a:sym typeface="Lato"/>
              </a:rPr>
              <a:t>Asking price for sellers</a:t>
            </a:r>
            <a:endParaRPr sz="1500">
              <a:solidFill>
                <a:srgbClr val="1F2937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Lato"/>
              <a:buChar char="●"/>
            </a:pPr>
            <a:r>
              <a:rPr lang="zh-TW" sz="1500">
                <a:solidFill>
                  <a:srgbClr val="1F2937"/>
                </a:solidFill>
                <a:latin typeface="Lato"/>
                <a:ea typeface="Lato"/>
                <a:cs typeface="Lato"/>
                <a:sym typeface="Lato"/>
              </a:rPr>
              <a:t>Whether to negotiate or verify for buyers</a:t>
            </a:r>
            <a:endParaRPr sz="1500">
              <a:solidFill>
                <a:srgbClr val="1F2937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69" name="Google Shape;69;p14"/>
          <p:cNvSpPr/>
          <p:nvPr/>
        </p:nvSpPr>
        <p:spPr>
          <a:xfrm>
            <a:off x="6126480" y="1417320"/>
            <a:ext cx="2560200" cy="3017400"/>
          </a:xfrm>
          <a:prstGeom prst="roundRect">
            <a:avLst>
              <a:gd name="adj" fmla="val 16667"/>
            </a:avLst>
          </a:prstGeom>
          <a:solidFill>
            <a:srgbClr val="E3EC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70;p14"/>
          <p:cNvSpPr txBox="1"/>
          <p:nvPr/>
        </p:nvSpPr>
        <p:spPr>
          <a:xfrm>
            <a:off x="6263640" y="1554480"/>
            <a:ext cx="22860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800" b="1">
                <a:solidFill>
                  <a:srgbClr val="2F5D7C"/>
                </a:solidFill>
                <a:latin typeface="Merriweather"/>
                <a:ea typeface="Merriweather"/>
                <a:cs typeface="Merriweather"/>
                <a:sym typeface="Merriweather"/>
              </a:rPr>
              <a:t>Why linear</a:t>
            </a:r>
            <a:endParaRPr sz="1800" b="1">
              <a:solidFill>
                <a:srgbClr val="2F5D7C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71" name="Google Shape;71;p14"/>
          <p:cNvSpPr txBox="1"/>
          <p:nvPr/>
        </p:nvSpPr>
        <p:spPr>
          <a:xfrm>
            <a:off x="6263640" y="2057400"/>
            <a:ext cx="2286000" cy="224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Lato"/>
              <a:buChar char="●"/>
            </a:pPr>
            <a:r>
              <a:rPr lang="zh-TW" sz="1500">
                <a:solidFill>
                  <a:srgbClr val="1F2937"/>
                </a:solidFill>
                <a:latin typeface="Lato"/>
                <a:ea typeface="Lato"/>
                <a:cs typeface="Lato"/>
                <a:sym typeface="Lato"/>
              </a:rPr>
              <a:t>Each coefficient reads as the value of one house attribute</a:t>
            </a:r>
            <a:endParaRPr sz="1500">
              <a:solidFill>
                <a:srgbClr val="1F2937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Lato"/>
              <a:buChar char="●"/>
            </a:pPr>
            <a:r>
              <a:rPr lang="zh-TW" sz="1500">
                <a:solidFill>
                  <a:srgbClr val="1F2937"/>
                </a:solidFill>
                <a:latin typeface="Lato"/>
                <a:ea typeface="Lato"/>
                <a:cs typeface="Lato"/>
                <a:sym typeface="Lato"/>
              </a:rPr>
              <a:t>Users can see why an estimate is high or low</a:t>
            </a:r>
            <a:endParaRPr sz="1500">
              <a:solidFill>
                <a:srgbClr val="1F2937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5"/>
          <p:cNvSpPr txBox="1"/>
          <p:nvPr/>
        </p:nvSpPr>
        <p:spPr>
          <a:xfrm>
            <a:off x="457200" y="201168"/>
            <a:ext cx="8229600" cy="107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800" b="1">
                <a:solidFill>
                  <a:srgbClr val="1F2937"/>
                </a:solidFill>
                <a:latin typeface="Merriweather"/>
                <a:ea typeface="Merriweather"/>
                <a:cs typeface="Merriweather"/>
                <a:sym typeface="Merriweather"/>
              </a:rPr>
              <a:t>We predict a home's sale price at listing time, from house attributes only</a:t>
            </a:r>
            <a:endParaRPr sz="2800" b="1">
              <a:solidFill>
                <a:srgbClr val="1F2937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graphicFrame>
        <p:nvGraphicFramePr>
          <p:cNvPr id="77" name="Google Shape;77;p15"/>
          <p:cNvGraphicFramePr/>
          <p:nvPr/>
        </p:nvGraphicFramePr>
        <p:xfrm>
          <a:off x="457200" y="1325880"/>
          <a:ext cx="8229600" cy="2057375"/>
        </p:xfrm>
        <a:graphic>
          <a:graphicData uri="http://schemas.openxmlformats.org/drawingml/2006/table">
            <a:tbl>
              <a:tblPr>
                <a:noFill/>
                <a:tableStyleId>{7FB88B2B-F026-4F9C-AE6C-60BBE9297B5A}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85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14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b="1">
                          <a:latin typeface="Lato"/>
                          <a:ea typeface="Lato"/>
                          <a:cs typeface="Lato"/>
                          <a:sym typeface="Lato"/>
                        </a:rPr>
                        <a:t>Item</a:t>
                      </a:r>
                      <a:endParaRPr b="1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b="1">
                          <a:latin typeface="Lato"/>
                          <a:ea typeface="Lato"/>
                          <a:cs typeface="Lato"/>
                          <a:sym typeface="Lato"/>
                        </a:rPr>
                        <a:t>Definition</a:t>
                      </a:r>
                      <a:endParaRPr b="1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b="1">
                          <a:latin typeface="Lato"/>
                          <a:ea typeface="Lato"/>
                          <a:cs typeface="Lato"/>
                          <a:sym typeface="Lato"/>
                        </a:rPr>
                        <a:t>Target</a:t>
                      </a:r>
                      <a:endParaRPr b="1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latin typeface="Lato"/>
                          <a:ea typeface="Lato"/>
                          <a:cs typeface="Lato"/>
                          <a:sym typeface="Lato"/>
                        </a:rPr>
                        <a:t>SalePrice in USD; training range $34,900 to $745,000, median $165,000</a:t>
                      </a:r>
                      <a:endParaRPr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b="1">
                          <a:latin typeface="Lato"/>
                          <a:ea typeface="Lato"/>
                          <a:cs typeface="Lato"/>
                          <a:sym typeface="Lato"/>
                        </a:rPr>
                        <a:t>One row</a:t>
                      </a:r>
                      <a:endParaRPr b="1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latin typeface="Lato"/>
                          <a:ea typeface="Lato"/>
                          <a:cs typeface="Lato"/>
                          <a:sym typeface="Lato"/>
                        </a:rPr>
                        <a:t>One house sale in Ames, Iowa, 2006 to 2010</a:t>
                      </a:r>
                      <a:endParaRPr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b="1">
                          <a:latin typeface="Lato"/>
                          <a:ea typeface="Lato"/>
                          <a:cs typeface="Lato"/>
                          <a:sym typeface="Lato"/>
                        </a:rPr>
                        <a:t>Inputs</a:t>
                      </a:r>
                      <a:endParaRPr b="1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latin typeface="Lato"/>
                          <a:ea typeface="Lato"/>
                          <a:cs typeface="Lato"/>
                          <a:sym typeface="Lato"/>
                        </a:rPr>
                        <a:t>73 house attributes (size, quality, rooms, neighborhood) + QualityArea</a:t>
                      </a:r>
                      <a:endParaRPr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b="1">
                          <a:latin typeface="Lato"/>
                          <a:ea typeface="Lato"/>
                          <a:cs typeface="Lato"/>
                          <a:sym typeface="Lato"/>
                        </a:rPr>
                        <a:t>Known at</a:t>
                      </a:r>
                      <a:endParaRPr b="1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latin typeface="Lato"/>
                          <a:ea typeface="Lato"/>
                          <a:cs typeface="Lato"/>
                          <a:sym typeface="Lato"/>
                        </a:rPr>
                        <a:t>Listing time; excluded: sale date, type, condition, age from sale year</a:t>
                      </a:r>
                      <a:endParaRPr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8" name="Google Shape;78;p15"/>
          <p:cNvSpPr/>
          <p:nvPr/>
        </p:nvSpPr>
        <p:spPr>
          <a:xfrm>
            <a:off x="457200" y="3657600"/>
            <a:ext cx="8229600" cy="868800"/>
          </a:xfrm>
          <a:prstGeom prst="roundRect">
            <a:avLst>
              <a:gd name="adj" fmla="val 16667"/>
            </a:avLst>
          </a:prstGeom>
          <a:solidFill>
            <a:srgbClr val="E3EC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9" name="Google Shape;79;p15"/>
          <p:cNvSpPr txBox="1"/>
          <p:nvPr/>
        </p:nvSpPr>
        <p:spPr>
          <a:xfrm>
            <a:off x="594360" y="3721608"/>
            <a:ext cx="7955400" cy="73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500" b="1">
                <a:solidFill>
                  <a:srgbClr val="2F5D7C"/>
                </a:solidFill>
                <a:latin typeface="Lato"/>
                <a:ea typeface="Lato"/>
                <a:cs typeface="Lato"/>
                <a:sym typeface="Lato"/>
              </a:rPr>
              <a:t>Research question: using only pre-sale attributes, can a regularized linear model keep test MAE within $15,000 and do no worse than a Random Forest?</a:t>
            </a:r>
            <a:endParaRPr sz="1500" b="1">
              <a:solidFill>
                <a:srgbClr val="2F5D7C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 txBox="1"/>
          <p:nvPr/>
        </p:nvSpPr>
        <p:spPr>
          <a:xfrm>
            <a:off x="457200" y="201168"/>
            <a:ext cx="8229600" cy="107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800" b="1">
                <a:solidFill>
                  <a:srgbClr val="1F2937"/>
                </a:solidFill>
                <a:latin typeface="Merriweather"/>
                <a:ea typeface="Merriweather"/>
                <a:cs typeface="Merriweather"/>
                <a:sym typeface="Merriweather"/>
              </a:rPr>
              <a:t>1,460 Ames sales, split once, with the test set sealed until the end</a:t>
            </a:r>
            <a:endParaRPr sz="2800" b="1">
              <a:solidFill>
                <a:srgbClr val="1F2937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85" name="Google Shape;85;p16"/>
          <p:cNvSpPr/>
          <p:nvPr/>
        </p:nvSpPr>
        <p:spPr>
          <a:xfrm>
            <a:off x="457200" y="1371600"/>
            <a:ext cx="1828800" cy="1371600"/>
          </a:xfrm>
          <a:prstGeom prst="roundRect">
            <a:avLst>
              <a:gd name="adj" fmla="val 16667"/>
            </a:avLst>
          </a:prstGeom>
          <a:solidFill>
            <a:srgbClr val="E3EC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6"/>
          <p:cNvSpPr txBox="1"/>
          <p:nvPr/>
        </p:nvSpPr>
        <p:spPr>
          <a:xfrm>
            <a:off x="548640" y="1463040"/>
            <a:ext cx="16458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600" b="1">
                <a:solidFill>
                  <a:srgbClr val="2F5D7C"/>
                </a:solidFill>
                <a:latin typeface="Lato"/>
                <a:ea typeface="Lato"/>
                <a:cs typeface="Lato"/>
                <a:sym typeface="Lato"/>
              </a:rPr>
              <a:t>1,460 sales</a:t>
            </a:r>
            <a:endParaRPr sz="1600" b="1">
              <a:solidFill>
                <a:srgbClr val="2F5D7C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87" name="Google Shape;87;p16"/>
          <p:cNvSpPr txBox="1"/>
          <p:nvPr/>
        </p:nvSpPr>
        <p:spPr>
          <a:xfrm>
            <a:off x="548640" y="1874520"/>
            <a:ext cx="1645800" cy="7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1F2937"/>
                </a:solidFill>
                <a:latin typeface="Lato"/>
                <a:ea typeface="Lato"/>
                <a:cs typeface="Lato"/>
                <a:sym typeface="Lato"/>
              </a:rPr>
              <a:t>Ames, Iowa</a:t>
            </a:r>
            <a:endParaRPr>
              <a:solidFill>
                <a:srgbClr val="1F2937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1F2937"/>
                </a:solidFill>
                <a:latin typeface="Lato"/>
                <a:ea typeface="Lato"/>
                <a:cs typeface="Lato"/>
                <a:sym typeface="Lato"/>
              </a:rPr>
              <a:t>2006 to 2010</a:t>
            </a:r>
            <a:endParaRPr>
              <a:solidFill>
                <a:srgbClr val="1F2937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88" name="Google Shape;88;p16"/>
          <p:cNvSpPr txBox="1"/>
          <p:nvPr/>
        </p:nvSpPr>
        <p:spPr>
          <a:xfrm>
            <a:off x="2286000" y="1783080"/>
            <a:ext cx="4116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000" b="1">
                <a:solidFill>
                  <a:srgbClr val="2F5D7C"/>
                </a:solidFill>
                <a:latin typeface="Lato"/>
                <a:ea typeface="Lato"/>
                <a:cs typeface="Lato"/>
                <a:sym typeface="Lato"/>
              </a:rPr>
              <a:t>→</a:t>
            </a:r>
            <a:endParaRPr sz="2000" b="1">
              <a:solidFill>
                <a:srgbClr val="2F5D7C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89" name="Google Shape;89;p16"/>
          <p:cNvSpPr/>
          <p:nvPr/>
        </p:nvSpPr>
        <p:spPr>
          <a:xfrm>
            <a:off x="2697480" y="1371600"/>
            <a:ext cx="1828800" cy="1371600"/>
          </a:xfrm>
          <a:prstGeom prst="roundRect">
            <a:avLst>
              <a:gd name="adj" fmla="val 16667"/>
            </a:avLst>
          </a:prstGeom>
          <a:solidFill>
            <a:srgbClr val="E3EC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0" name="Google Shape;90;p16"/>
          <p:cNvSpPr txBox="1"/>
          <p:nvPr/>
        </p:nvSpPr>
        <p:spPr>
          <a:xfrm>
            <a:off x="2788920" y="1463040"/>
            <a:ext cx="16458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600" b="1">
                <a:solidFill>
                  <a:srgbClr val="2F5D7C"/>
                </a:solidFill>
                <a:latin typeface="Lato"/>
                <a:ea typeface="Lato"/>
                <a:cs typeface="Lato"/>
                <a:sym typeface="Lato"/>
              </a:rPr>
              <a:t>Train 1,168</a:t>
            </a:r>
            <a:endParaRPr sz="1600" b="1">
              <a:solidFill>
                <a:srgbClr val="2F5D7C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91" name="Google Shape;91;p16"/>
          <p:cNvSpPr txBox="1"/>
          <p:nvPr/>
        </p:nvSpPr>
        <p:spPr>
          <a:xfrm>
            <a:off x="2788920" y="1874520"/>
            <a:ext cx="1645800" cy="7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1F2937"/>
                </a:solidFill>
                <a:latin typeface="Lato"/>
                <a:ea typeface="Lato"/>
                <a:cs typeface="Lato"/>
                <a:sym typeface="Lato"/>
              </a:rPr>
              <a:t>80% split</a:t>
            </a:r>
            <a:endParaRPr>
              <a:solidFill>
                <a:srgbClr val="1F2937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1F2937"/>
                </a:solidFill>
                <a:latin typeface="Lato"/>
                <a:ea typeface="Lato"/>
                <a:cs typeface="Lato"/>
                <a:sym typeface="Lato"/>
              </a:rPr>
              <a:t>seed 42</a:t>
            </a:r>
            <a:endParaRPr>
              <a:solidFill>
                <a:srgbClr val="1F2937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92" name="Google Shape;92;p16"/>
          <p:cNvSpPr txBox="1"/>
          <p:nvPr/>
        </p:nvSpPr>
        <p:spPr>
          <a:xfrm>
            <a:off x="4526280" y="1783080"/>
            <a:ext cx="4116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000" b="1">
                <a:solidFill>
                  <a:srgbClr val="2F5D7C"/>
                </a:solidFill>
                <a:latin typeface="Lato"/>
                <a:ea typeface="Lato"/>
                <a:cs typeface="Lato"/>
                <a:sym typeface="Lato"/>
              </a:rPr>
              <a:t>→</a:t>
            </a:r>
            <a:endParaRPr sz="2000" b="1">
              <a:solidFill>
                <a:srgbClr val="2F5D7C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93" name="Google Shape;93;p16"/>
          <p:cNvSpPr/>
          <p:nvPr/>
        </p:nvSpPr>
        <p:spPr>
          <a:xfrm>
            <a:off x="4937760" y="1371600"/>
            <a:ext cx="1828800" cy="1371600"/>
          </a:xfrm>
          <a:prstGeom prst="roundRect">
            <a:avLst>
              <a:gd name="adj" fmla="val 16667"/>
            </a:avLst>
          </a:prstGeom>
          <a:solidFill>
            <a:srgbClr val="E3EC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16"/>
          <p:cNvSpPr txBox="1"/>
          <p:nvPr/>
        </p:nvSpPr>
        <p:spPr>
          <a:xfrm>
            <a:off x="5029200" y="1463040"/>
            <a:ext cx="16458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600" b="1">
                <a:solidFill>
                  <a:srgbClr val="2F5D7C"/>
                </a:solidFill>
                <a:latin typeface="Lato"/>
                <a:ea typeface="Lato"/>
                <a:cs typeface="Lato"/>
                <a:sym typeface="Lato"/>
              </a:rPr>
              <a:t>Train 1,166</a:t>
            </a:r>
            <a:endParaRPr sz="1600" b="1">
              <a:solidFill>
                <a:srgbClr val="2F5D7C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95" name="Google Shape;95;p16"/>
          <p:cNvSpPr txBox="1"/>
          <p:nvPr/>
        </p:nvSpPr>
        <p:spPr>
          <a:xfrm>
            <a:off x="5029200" y="1874520"/>
            <a:ext cx="1645800" cy="7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1F2937"/>
                </a:solidFill>
                <a:latin typeface="Lato"/>
                <a:ea typeface="Lato"/>
                <a:cs typeface="Lato"/>
                <a:sym typeface="Lato"/>
              </a:rPr>
              <a:t>2 outliers removed</a:t>
            </a:r>
            <a:endParaRPr>
              <a:solidFill>
                <a:srgbClr val="1F2937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1F2937"/>
                </a:solidFill>
                <a:latin typeface="Lato"/>
                <a:ea typeface="Lato"/>
                <a:cs typeface="Lato"/>
                <a:sym typeface="Lato"/>
              </a:rPr>
              <a:t>(Id 524, 1299)</a:t>
            </a:r>
            <a:endParaRPr>
              <a:solidFill>
                <a:srgbClr val="1F2937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96" name="Google Shape;96;p16"/>
          <p:cNvSpPr txBox="1"/>
          <p:nvPr/>
        </p:nvSpPr>
        <p:spPr>
          <a:xfrm>
            <a:off x="6766560" y="1783080"/>
            <a:ext cx="4116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000" b="1">
                <a:solidFill>
                  <a:srgbClr val="2F5D7C"/>
                </a:solidFill>
                <a:latin typeface="Lato"/>
                <a:ea typeface="Lato"/>
                <a:cs typeface="Lato"/>
                <a:sym typeface="Lato"/>
              </a:rPr>
              <a:t>→</a:t>
            </a:r>
            <a:endParaRPr sz="2000" b="1">
              <a:solidFill>
                <a:srgbClr val="2F5D7C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97" name="Google Shape;97;p16"/>
          <p:cNvSpPr/>
          <p:nvPr/>
        </p:nvSpPr>
        <p:spPr>
          <a:xfrm>
            <a:off x="7178040" y="1371600"/>
            <a:ext cx="1508700" cy="1371600"/>
          </a:xfrm>
          <a:prstGeom prst="roundRect">
            <a:avLst>
              <a:gd name="adj" fmla="val 16667"/>
            </a:avLst>
          </a:prstGeom>
          <a:solidFill>
            <a:srgbClr val="E3EC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16"/>
          <p:cNvSpPr txBox="1"/>
          <p:nvPr/>
        </p:nvSpPr>
        <p:spPr>
          <a:xfrm>
            <a:off x="7269480" y="1463040"/>
            <a:ext cx="13260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600" b="1">
                <a:solidFill>
                  <a:srgbClr val="2F5D7C"/>
                </a:solidFill>
                <a:latin typeface="Lato"/>
                <a:ea typeface="Lato"/>
                <a:cs typeface="Lato"/>
                <a:sym typeface="Lato"/>
              </a:rPr>
              <a:t>5 folds</a:t>
            </a:r>
            <a:endParaRPr sz="1600" b="1">
              <a:solidFill>
                <a:srgbClr val="2F5D7C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99" name="Google Shape;99;p16"/>
          <p:cNvSpPr txBox="1"/>
          <p:nvPr/>
        </p:nvSpPr>
        <p:spPr>
          <a:xfrm>
            <a:off x="7269480" y="1874520"/>
            <a:ext cx="1326000" cy="7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1F2937"/>
                </a:solidFill>
                <a:latin typeface="Lato"/>
                <a:ea typeface="Lato"/>
                <a:cs typeface="Lato"/>
                <a:sym typeface="Lato"/>
              </a:rPr>
              <a:t>232 to 234</a:t>
            </a:r>
            <a:endParaRPr>
              <a:solidFill>
                <a:srgbClr val="1F2937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1F2937"/>
                </a:solidFill>
                <a:latin typeface="Lato"/>
                <a:ea typeface="Lato"/>
                <a:cs typeface="Lato"/>
                <a:sym typeface="Lato"/>
              </a:rPr>
              <a:t>homes each</a:t>
            </a:r>
            <a:endParaRPr>
              <a:solidFill>
                <a:srgbClr val="1F2937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00" name="Google Shape;100;p16"/>
          <p:cNvSpPr/>
          <p:nvPr/>
        </p:nvSpPr>
        <p:spPr>
          <a:xfrm>
            <a:off x="2697480" y="3017520"/>
            <a:ext cx="5989200" cy="777300"/>
          </a:xfrm>
          <a:prstGeom prst="roundRect">
            <a:avLst>
              <a:gd name="adj" fmla="val 16667"/>
            </a:avLst>
          </a:prstGeom>
          <a:solidFill>
            <a:srgbClr val="EEF0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1" name="Google Shape;101;p16"/>
          <p:cNvSpPr txBox="1"/>
          <p:nvPr/>
        </p:nvSpPr>
        <p:spPr>
          <a:xfrm>
            <a:off x="2834640" y="3090672"/>
            <a:ext cx="57606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500">
                <a:solidFill>
                  <a:srgbClr val="1F2937"/>
                </a:solidFill>
                <a:latin typeface="Lato"/>
                <a:ea typeface="Lato"/>
                <a:cs typeface="Lato"/>
                <a:sym typeface="Lato"/>
              </a:rPr>
              <a:t>Test 292 sales: never used for EDA, tuning or model choice; scored once after all settings were frozen</a:t>
            </a:r>
            <a:endParaRPr sz="1500">
              <a:solidFill>
                <a:srgbClr val="1F2937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02" name="Google Shape;102;p16"/>
          <p:cNvSpPr txBox="1"/>
          <p:nvPr/>
        </p:nvSpPr>
        <p:spPr>
          <a:xfrm>
            <a:off x="457200" y="3017520"/>
            <a:ext cx="2011800" cy="7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6B7280"/>
                </a:solidFill>
                <a:latin typeface="Lato"/>
                <a:ea typeface="Lato"/>
                <a:cs typeface="Lato"/>
                <a:sym typeface="Lato"/>
              </a:rPr>
              <a:t>Target: SalePrice (USD), modeled as log1p</a:t>
            </a:r>
            <a:endParaRPr>
              <a:solidFill>
                <a:srgbClr val="6B728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03" name="Google Shape;103;p16"/>
          <p:cNvSpPr txBox="1"/>
          <p:nvPr/>
        </p:nvSpPr>
        <p:spPr>
          <a:xfrm>
            <a:off x="457200" y="4023360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500">
                <a:solidFill>
                  <a:srgbClr val="1F2937"/>
                </a:solidFill>
                <a:latin typeface="Lato"/>
                <a:ea typeface="Lato"/>
                <a:cs typeface="Lato"/>
                <a:sym typeface="Lato"/>
              </a:rPr>
              <a:t>Inputs: 73 house attributes + QualityArea, one-hot encoded to 214 columns</a:t>
            </a:r>
            <a:endParaRPr sz="1500">
              <a:solidFill>
                <a:srgbClr val="1F2937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04" name="Google Shape;104;p16"/>
          <p:cNvSpPr txBox="1"/>
          <p:nvPr/>
        </p:nvSpPr>
        <p:spPr>
          <a:xfrm>
            <a:off x="457200" y="4617720"/>
            <a:ext cx="82296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000">
                <a:solidFill>
                  <a:srgbClr val="6B7280"/>
                </a:solidFill>
                <a:latin typeface="Lato"/>
                <a:ea typeface="Lato"/>
                <a:cs typeface="Lato"/>
                <a:sym typeface="Lato"/>
              </a:rPr>
              <a:t>Source: Kaggle House Prices: Advanced Regression Techniques; De Cock (2011). Outliers: living area &gt; 4,000 sq ft and price &lt; $300,000.</a:t>
            </a:r>
            <a:endParaRPr sz="1000">
              <a:solidFill>
                <a:srgbClr val="6B7280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7"/>
          <p:cNvSpPr txBox="1"/>
          <p:nvPr/>
        </p:nvSpPr>
        <p:spPr>
          <a:xfrm>
            <a:off x="457200" y="201168"/>
            <a:ext cx="8229600" cy="107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800" b="1">
                <a:solidFill>
                  <a:srgbClr val="1F2937"/>
                </a:solidFill>
                <a:latin typeface="Merriweather"/>
                <a:ea typeface="Merriweather"/>
                <a:cs typeface="Merriweather"/>
                <a:sym typeface="Merriweather"/>
              </a:rPr>
              <a:t>Quality × living area tracks price more closely than either alone</a:t>
            </a:r>
            <a:endParaRPr sz="2800" b="1">
              <a:solidFill>
                <a:srgbClr val="1F2937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graphicFrame>
        <p:nvGraphicFramePr>
          <p:cNvPr id="110" name="Google Shape;110;p17"/>
          <p:cNvGraphicFramePr/>
          <p:nvPr/>
        </p:nvGraphicFramePr>
        <p:xfrm>
          <a:off x="5212080" y="1325880"/>
          <a:ext cx="3474700" cy="1584840"/>
        </p:xfrm>
        <a:graphic>
          <a:graphicData uri="http://schemas.openxmlformats.org/drawingml/2006/table">
            <a:tbl>
              <a:tblPr>
                <a:noFill/>
                <a:tableStyleId>{7FB88B2B-F026-4F9C-AE6C-60BBE9297B5A}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b="1">
                          <a:solidFill>
                            <a:srgbClr val="1F2937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Feature</a:t>
                      </a:r>
                      <a:endParaRPr b="1">
                        <a:solidFill>
                          <a:srgbClr val="1F2937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b="1">
                          <a:solidFill>
                            <a:srgbClr val="1F2937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Pearson r</a:t>
                      </a:r>
                      <a:endParaRPr b="1">
                        <a:solidFill>
                          <a:srgbClr val="1F2937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b="1">
                          <a:solidFill>
                            <a:srgbClr val="1F2937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QualityArea</a:t>
                      </a:r>
                      <a:endParaRPr b="1">
                        <a:solidFill>
                          <a:srgbClr val="1F2937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solidFill>
                            <a:srgbClr val="1F2937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0.836</a:t>
                      </a:r>
                      <a:endParaRPr>
                        <a:solidFill>
                          <a:srgbClr val="1F2937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b="1">
                          <a:solidFill>
                            <a:srgbClr val="1F2937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OverallQual</a:t>
                      </a:r>
                      <a:endParaRPr b="1">
                        <a:solidFill>
                          <a:srgbClr val="1F2937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solidFill>
                            <a:srgbClr val="1F2937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0.813</a:t>
                      </a:r>
                      <a:endParaRPr>
                        <a:solidFill>
                          <a:srgbClr val="1F2937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b="1">
                          <a:solidFill>
                            <a:srgbClr val="1F2937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GrLivArea</a:t>
                      </a:r>
                      <a:endParaRPr b="1">
                        <a:solidFill>
                          <a:srgbClr val="1F2937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solidFill>
                            <a:srgbClr val="1F2937"/>
                          </a:solidFill>
                          <a:latin typeface="Lato"/>
                          <a:ea typeface="Lato"/>
                          <a:cs typeface="Lato"/>
                          <a:sym typeface="Lato"/>
                        </a:rPr>
                        <a:t>0.719</a:t>
                      </a:r>
                      <a:endParaRPr>
                        <a:solidFill>
                          <a:srgbClr val="1F2937"/>
                        </a:solidFill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1" name="Google Shape;111;p17"/>
          <p:cNvSpPr txBox="1"/>
          <p:nvPr/>
        </p:nvSpPr>
        <p:spPr>
          <a:xfrm>
            <a:off x="5212080" y="2971800"/>
            <a:ext cx="34746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600" b="1">
                <a:solidFill>
                  <a:srgbClr val="2F5D7C"/>
                </a:solidFill>
                <a:latin typeface="Lato"/>
                <a:ea typeface="Lato"/>
                <a:cs typeface="Lato"/>
                <a:sym typeface="Lato"/>
              </a:rPr>
              <a:t>Hypotheses from EDA</a:t>
            </a:r>
            <a:endParaRPr sz="1600" b="1">
              <a:solidFill>
                <a:srgbClr val="2F5D7C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12" name="Google Shape;112;p17"/>
          <p:cNvSpPr txBox="1"/>
          <p:nvPr/>
        </p:nvSpPr>
        <p:spPr>
          <a:xfrm>
            <a:off x="5212080" y="3383280"/>
            <a:ext cx="3474600" cy="123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Lato"/>
              <a:buChar char="●"/>
            </a:pPr>
            <a:r>
              <a:rPr lang="zh-TW" sz="1500">
                <a:solidFill>
                  <a:srgbClr val="1F2937"/>
                </a:solidFill>
                <a:latin typeface="Lato"/>
                <a:ea typeface="Lato"/>
                <a:cs typeface="Lato"/>
                <a:sym typeface="Lato"/>
              </a:rPr>
              <a:t>H1: add QualityArea</a:t>
            </a:r>
            <a:endParaRPr sz="1500">
              <a:solidFill>
                <a:srgbClr val="1F2937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Lato"/>
              <a:buChar char="●"/>
            </a:pPr>
            <a:r>
              <a:rPr lang="zh-TW" sz="1500">
                <a:solidFill>
                  <a:srgbClr val="1F2937"/>
                </a:solidFill>
                <a:latin typeface="Lato"/>
                <a:ea typeface="Lato"/>
                <a:cs typeface="Lato"/>
                <a:sym typeface="Lato"/>
              </a:rPr>
              <a:t>H2: log-transform LotArea</a:t>
            </a:r>
            <a:endParaRPr sz="1500">
              <a:solidFill>
                <a:srgbClr val="1F2937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Lato"/>
              <a:buChar char="●"/>
            </a:pPr>
            <a:r>
              <a:rPr lang="zh-TW" sz="1500">
                <a:solidFill>
                  <a:srgbClr val="1F2937"/>
                </a:solidFill>
                <a:latin typeface="Lato"/>
                <a:ea typeface="Lato"/>
                <a:cs typeface="Lato"/>
                <a:sym typeface="Lato"/>
              </a:rPr>
              <a:t>H3: merge 3 area columns into TotalSF</a:t>
            </a:r>
            <a:endParaRPr sz="1500">
              <a:solidFill>
                <a:srgbClr val="1F2937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13" name="Google Shape;113;p17"/>
          <p:cNvSpPr txBox="1"/>
          <p:nvPr/>
        </p:nvSpPr>
        <p:spPr>
          <a:xfrm>
            <a:off x="457200" y="4617720"/>
            <a:ext cx="82296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000">
                <a:solidFill>
                  <a:srgbClr val="6B7280"/>
                </a:solidFill>
                <a:latin typeface="Lato"/>
                <a:ea typeface="Lato"/>
                <a:cs typeface="Lato"/>
                <a:sym typeface="Lato"/>
              </a:rPr>
              <a:t>Training data only (n = 1,166). QualityArea = OverallQual × GrLivArea. Ablation on slide 10 tests the hypotheses.</a:t>
            </a:r>
            <a:endParaRPr sz="1000">
              <a:solidFill>
                <a:srgbClr val="6B7280"/>
              </a:solidFill>
              <a:latin typeface="Lato"/>
              <a:ea typeface="Lato"/>
              <a:cs typeface="Lato"/>
              <a:sym typeface="Lato"/>
            </a:endParaRPr>
          </a:p>
        </p:txBody>
      </p:sp>
      <p:pic>
        <p:nvPicPr>
          <p:cNvPr id="114" name="Google Shape;11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1325880"/>
            <a:ext cx="4572000" cy="3200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8"/>
          <p:cNvSpPr txBox="1"/>
          <p:nvPr/>
        </p:nvSpPr>
        <p:spPr>
          <a:xfrm>
            <a:off x="457200" y="201168"/>
            <a:ext cx="82296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800" b="1">
                <a:solidFill>
                  <a:srgbClr val="1F2937"/>
                </a:solidFill>
                <a:latin typeface="Merriweather"/>
                <a:ea typeface="Merriweather"/>
                <a:cs typeface="Merriweather"/>
              </a:rPr>
              <a:t>Fold-local preprocessing and model fitting</a:t>
            </a:r>
          </a:p>
        </p:txBody>
      </p:sp>
      <p:pic>
        <p:nvPicPr>
          <p:cNvPr id="120" name="Google Shape;120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2000" y="868680"/>
            <a:ext cx="7620000" cy="354932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8"/>
          <p:cNvSpPr txBox="1"/>
          <p:nvPr/>
        </p:nvSpPr>
        <p:spPr>
          <a:xfrm>
            <a:off x="457200" y="4457700"/>
            <a:ext cx="8229600" cy="5942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rgbClr val="1F2937"/>
                </a:solidFill>
                <a:latin typeface="Lato"/>
                <a:ea typeface="Lato"/>
                <a:cs typeface="Lato"/>
              </a:rPr>
              <a:t>Elastic Net handles collinearity across 214 encoded features with L1 + L2 regularization.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rgbClr val="1F2937"/>
                </a:solidFill>
                <a:latin typeface="Lato"/>
                <a:ea typeface="Lato"/>
                <a:cs typeface="Lato"/>
              </a:rPr>
              <a:t>5-fold CV selects α = 0.0032 and l1_ratio = 0.1.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9"/>
          <p:cNvSpPr txBox="1"/>
          <p:nvPr/>
        </p:nvSpPr>
        <p:spPr>
          <a:xfrm>
            <a:off x="457200" y="201168"/>
            <a:ext cx="8229600" cy="107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800" b="1">
                <a:solidFill>
                  <a:srgbClr val="1F2937"/>
                </a:solidFill>
                <a:latin typeface="Merriweather"/>
                <a:ea typeface="Merriweather"/>
                <a:cs typeface="Merriweather"/>
                <a:sym typeface="Merriweather"/>
              </a:rPr>
              <a:t>Leakage, collinearity and skewed prices shaped the design</a:t>
            </a:r>
            <a:endParaRPr sz="2800" b="1">
              <a:solidFill>
                <a:srgbClr val="1F2937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127" name="Google Shape;127;p19"/>
          <p:cNvSpPr/>
          <p:nvPr/>
        </p:nvSpPr>
        <p:spPr>
          <a:xfrm>
            <a:off x="457200" y="1325880"/>
            <a:ext cx="2560200" cy="2240400"/>
          </a:xfrm>
          <a:prstGeom prst="roundRect">
            <a:avLst>
              <a:gd name="adj" fmla="val 16667"/>
            </a:avLst>
          </a:prstGeom>
          <a:solidFill>
            <a:srgbClr val="E3EC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19"/>
          <p:cNvSpPr txBox="1"/>
          <p:nvPr/>
        </p:nvSpPr>
        <p:spPr>
          <a:xfrm>
            <a:off x="594360" y="141732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700" b="1">
                <a:solidFill>
                  <a:srgbClr val="2F5D7C"/>
                </a:solidFill>
                <a:latin typeface="Merriweather"/>
                <a:ea typeface="Merriweather"/>
                <a:cs typeface="Merriweather"/>
                <a:sym typeface="Merriweather"/>
              </a:rPr>
              <a:t>Leakage</a:t>
            </a:r>
            <a:endParaRPr sz="1700" b="1">
              <a:solidFill>
                <a:srgbClr val="2F5D7C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129" name="Google Shape;129;p19"/>
          <p:cNvSpPr txBox="1"/>
          <p:nvPr/>
        </p:nvSpPr>
        <p:spPr>
          <a:xfrm>
            <a:off x="594360" y="1874520"/>
            <a:ext cx="228600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1F2937"/>
                </a:solidFill>
                <a:latin typeface="Lato"/>
                <a:ea typeface="Lato"/>
                <a:cs typeface="Lato"/>
                <a:sym typeface="Lato"/>
              </a:rPr>
              <a:t>Sale date, type and condition are known only after the sale.</a:t>
            </a:r>
            <a:endParaRPr>
              <a:solidFill>
                <a:srgbClr val="1F2937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r>
              <a:rPr lang="zh-TW">
                <a:solidFill>
                  <a:srgbClr val="1F2937"/>
                </a:solidFill>
                <a:latin typeface="Lato"/>
                <a:ea typeface="Lato"/>
                <a:cs typeface="Lato"/>
                <a:sym typeface="Lato"/>
              </a:rPr>
              <a:t>Fix: drop them, and the age computed from the sale year.</a:t>
            </a:r>
            <a:endParaRPr>
              <a:solidFill>
                <a:srgbClr val="1F2937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30" name="Google Shape;130;p19"/>
          <p:cNvSpPr/>
          <p:nvPr/>
        </p:nvSpPr>
        <p:spPr>
          <a:xfrm>
            <a:off x="3291840" y="1325880"/>
            <a:ext cx="2560200" cy="2240400"/>
          </a:xfrm>
          <a:prstGeom prst="roundRect">
            <a:avLst>
              <a:gd name="adj" fmla="val 16667"/>
            </a:avLst>
          </a:prstGeom>
          <a:solidFill>
            <a:srgbClr val="E3EC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19"/>
          <p:cNvSpPr txBox="1"/>
          <p:nvPr/>
        </p:nvSpPr>
        <p:spPr>
          <a:xfrm>
            <a:off x="3429000" y="141732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700" b="1">
                <a:solidFill>
                  <a:srgbClr val="2F5D7C"/>
                </a:solidFill>
                <a:latin typeface="Merriweather"/>
                <a:ea typeface="Merriweather"/>
                <a:cs typeface="Merriweather"/>
                <a:sym typeface="Merriweather"/>
              </a:rPr>
              <a:t>Collinearity</a:t>
            </a:r>
            <a:endParaRPr sz="1700" b="1">
              <a:solidFill>
                <a:srgbClr val="2F5D7C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132" name="Google Shape;132;p19"/>
          <p:cNvSpPr txBox="1"/>
          <p:nvPr/>
        </p:nvSpPr>
        <p:spPr>
          <a:xfrm>
            <a:off x="3429000" y="1874520"/>
            <a:ext cx="228600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1F2937"/>
                </a:solidFill>
                <a:latin typeface="Lato"/>
                <a:ea typeface="Lato"/>
                <a:cs typeface="Lato"/>
                <a:sym typeface="Lato"/>
              </a:rPr>
              <a:t>214 one-hot columns; area and quality columns overlap (VIF up to 67).</a:t>
            </a:r>
            <a:endParaRPr>
              <a:solidFill>
                <a:srgbClr val="1F2937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r>
              <a:rPr lang="zh-TW">
                <a:solidFill>
                  <a:srgbClr val="1F2937"/>
                </a:solidFill>
                <a:latin typeface="Lato"/>
                <a:ea typeface="Lato"/>
                <a:cs typeface="Lato"/>
                <a:sym typeface="Lato"/>
              </a:rPr>
              <a:t>Fix: Elastic Net shrinks and selects instead of plain OLS.</a:t>
            </a:r>
            <a:endParaRPr>
              <a:solidFill>
                <a:srgbClr val="1F2937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33" name="Google Shape;133;p19"/>
          <p:cNvSpPr/>
          <p:nvPr/>
        </p:nvSpPr>
        <p:spPr>
          <a:xfrm>
            <a:off x="6126480" y="1325880"/>
            <a:ext cx="2560200" cy="2240400"/>
          </a:xfrm>
          <a:prstGeom prst="roundRect">
            <a:avLst>
              <a:gd name="adj" fmla="val 16667"/>
            </a:avLst>
          </a:prstGeom>
          <a:solidFill>
            <a:srgbClr val="E3EC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19"/>
          <p:cNvSpPr txBox="1"/>
          <p:nvPr/>
        </p:nvSpPr>
        <p:spPr>
          <a:xfrm>
            <a:off x="6263640" y="141732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700" b="1">
                <a:solidFill>
                  <a:srgbClr val="2F5D7C"/>
                </a:solidFill>
                <a:latin typeface="Merriweather"/>
                <a:ea typeface="Merriweather"/>
                <a:cs typeface="Merriweather"/>
                <a:sym typeface="Merriweather"/>
              </a:rPr>
              <a:t>Skewed prices</a:t>
            </a:r>
            <a:endParaRPr sz="1700" b="1">
              <a:solidFill>
                <a:srgbClr val="2F5D7C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135" name="Google Shape;135;p19"/>
          <p:cNvSpPr txBox="1"/>
          <p:nvPr/>
        </p:nvSpPr>
        <p:spPr>
          <a:xfrm>
            <a:off x="6263640" y="1874520"/>
            <a:ext cx="228600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1F2937"/>
                </a:solidFill>
                <a:latin typeface="Lato"/>
                <a:ea typeface="Lato"/>
                <a:cs typeface="Lato"/>
                <a:sym typeface="Lato"/>
              </a:rPr>
              <a:t>Price skew 1.74; a few expensive homes dominate squared error.</a:t>
            </a:r>
            <a:endParaRPr>
              <a:solidFill>
                <a:srgbClr val="1F2937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spcBef>
                <a:spcPts val="800"/>
              </a:spcBef>
              <a:spcAft>
                <a:spcPts val="800"/>
              </a:spcAft>
              <a:buNone/>
            </a:pPr>
            <a:r>
              <a:rPr lang="zh-TW">
                <a:solidFill>
                  <a:srgbClr val="1F2937"/>
                </a:solidFill>
                <a:latin typeface="Lato"/>
                <a:ea typeface="Lato"/>
                <a:cs typeface="Lato"/>
                <a:sym typeface="Lato"/>
              </a:rPr>
              <a:t>Fix: model log1p(price) (skew 0.12), report errors in USD.</a:t>
            </a:r>
            <a:endParaRPr>
              <a:solidFill>
                <a:srgbClr val="1F2937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36" name="Google Shape;136;p19"/>
          <p:cNvSpPr txBox="1"/>
          <p:nvPr/>
        </p:nvSpPr>
        <p:spPr>
          <a:xfrm>
            <a:off x="457200" y="3749040"/>
            <a:ext cx="8229600" cy="7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Lato"/>
              <a:buChar char="●"/>
            </a:pPr>
            <a:r>
              <a:rPr lang="zh-TW" sz="1500">
                <a:solidFill>
                  <a:srgbClr val="1F2937"/>
                </a:solidFill>
                <a:latin typeface="Lato"/>
                <a:ea typeface="Lato"/>
                <a:cs typeface="Lato"/>
                <a:sym typeface="Lato"/>
              </a:rPr>
              <a:t>Dead end: keeping only the MI Top-20 features raised CV RMSE by 18%</a:t>
            </a:r>
            <a:endParaRPr sz="1500">
              <a:solidFill>
                <a:srgbClr val="1F2937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Lato"/>
              <a:buChar char="●"/>
            </a:pPr>
            <a:r>
              <a:rPr lang="zh-TW" sz="1500">
                <a:solidFill>
                  <a:srgbClr val="1F2937"/>
                </a:solidFill>
                <a:latin typeface="Lato"/>
                <a:ea typeface="Lato"/>
                <a:cs typeface="Lato"/>
                <a:sym typeface="Lato"/>
              </a:rPr>
              <a:t>Surprise: the linear model beat Random Forest on the test set</a:t>
            </a:r>
            <a:endParaRPr sz="1500">
              <a:solidFill>
                <a:srgbClr val="1F2937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0"/>
          <p:cNvSpPr txBox="1"/>
          <p:nvPr/>
        </p:nvSpPr>
        <p:spPr>
          <a:xfrm>
            <a:off x="457200" y="201168"/>
            <a:ext cx="8229600" cy="107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800" b="1">
                <a:solidFill>
                  <a:srgbClr val="1F2937"/>
                </a:solidFill>
                <a:latin typeface="Merriweather"/>
                <a:ea typeface="Merriweather"/>
                <a:cs typeface="Merriweather"/>
                <a:sym typeface="Merriweather"/>
              </a:rPr>
              <a:t>All models share the same folds, metrics and a $15,000 MAE threshold</a:t>
            </a:r>
            <a:endParaRPr sz="2800" b="1">
              <a:solidFill>
                <a:srgbClr val="1F2937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142" name="Google Shape;142;p20"/>
          <p:cNvSpPr/>
          <p:nvPr/>
        </p:nvSpPr>
        <p:spPr>
          <a:xfrm>
            <a:off x="457200" y="1325880"/>
            <a:ext cx="2743200" cy="3154800"/>
          </a:xfrm>
          <a:prstGeom prst="roundRect">
            <a:avLst>
              <a:gd name="adj" fmla="val 16667"/>
            </a:avLst>
          </a:prstGeom>
          <a:solidFill>
            <a:srgbClr val="2F5D7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20"/>
          <p:cNvSpPr txBox="1"/>
          <p:nvPr/>
        </p:nvSpPr>
        <p:spPr>
          <a:xfrm>
            <a:off x="548640" y="1645920"/>
            <a:ext cx="2560200" cy="73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3600" b="1">
                <a:solidFill>
                  <a:srgbClr val="FFFFFF"/>
                </a:solidFill>
                <a:latin typeface="Merriweather"/>
                <a:ea typeface="Merriweather"/>
                <a:cs typeface="Merriweather"/>
                <a:sym typeface="Merriweather"/>
              </a:rPr>
              <a:t>$15,000</a:t>
            </a:r>
            <a:endParaRPr sz="3600" b="1">
              <a:solidFill>
                <a:srgbClr val="FFFFFF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144" name="Google Shape;144;p20"/>
          <p:cNvSpPr txBox="1"/>
          <p:nvPr/>
        </p:nvSpPr>
        <p:spPr>
          <a:xfrm>
            <a:off x="594360" y="2468880"/>
            <a:ext cx="2469000" cy="82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FFFFFF"/>
                </a:solidFill>
                <a:latin typeface="Lato"/>
                <a:ea typeface="Lato"/>
                <a:cs typeface="Lato"/>
              </a:rPr>
              <a:t>Heuristic test MAE threshold, fixed before the final test</a:t>
            </a:r>
          </a:p>
        </p:txBody>
      </p:sp>
      <p:sp>
        <p:nvSpPr>
          <p:cNvPr id="145" name="Google Shape;145;p20"/>
          <p:cNvSpPr txBox="1"/>
          <p:nvPr/>
        </p:nvSpPr>
        <p:spPr>
          <a:xfrm>
            <a:off x="594360" y="3383280"/>
            <a:ext cx="2469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E3ECF3"/>
                </a:solidFill>
                <a:latin typeface="Lato"/>
                <a:ea typeface="Lato"/>
                <a:cs typeface="Lato"/>
                <a:sym typeface="Lato"/>
              </a:rPr>
              <a:t>CV mean + 2 SD (14,985), rounded up; about 9% of the median price</a:t>
            </a:r>
            <a:endParaRPr>
              <a:solidFill>
                <a:srgbClr val="E3ECF3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46" name="Google Shape;146;p20"/>
          <p:cNvSpPr txBox="1"/>
          <p:nvPr/>
        </p:nvSpPr>
        <p:spPr>
          <a:xfrm>
            <a:off x="3474720" y="1325880"/>
            <a:ext cx="11886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600" b="1">
                <a:solidFill>
                  <a:srgbClr val="2F5D7C"/>
                </a:solidFill>
                <a:latin typeface="Lato"/>
                <a:ea typeface="Lato"/>
                <a:cs typeface="Lato"/>
                <a:sym typeface="Lato"/>
              </a:rPr>
              <a:t>Protocol</a:t>
            </a:r>
            <a:endParaRPr sz="1600" b="1">
              <a:solidFill>
                <a:srgbClr val="2F5D7C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47" name="Google Shape;147;p20"/>
          <p:cNvSpPr txBox="1"/>
          <p:nvPr/>
        </p:nvSpPr>
        <p:spPr>
          <a:xfrm>
            <a:off x="4663440" y="1325880"/>
            <a:ext cx="4023300" cy="9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1F2937"/>
                </a:solidFill>
                <a:latin typeface="Lato"/>
                <a:ea typeface="Lato"/>
                <a:cs typeface="Lato"/>
                <a:sym typeface="Lato"/>
              </a:rPr>
              <a:t>Fixed 5-fold CV on 1,166 training homes; learned steps fit inside each fold. Test scored once, after all settings were frozen.</a:t>
            </a:r>
            <a:endParaRPr>
              <a:solidFill>
                <a:srgbClr val="1F2937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48" name="Google Shape;148;p20"/>
          <p:cNvSpPr txBox="1"/>
          <p:nvPr/>
        </p:nvSpPr>
        <p:spPr>
          <a:xfrm>
            <a:off x="3474720" y="2331720"/>
            <a:ext cx="11886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600" b="1">
                <a:solidFill>
                  <a:srgbClr val="2F5D7C"/>
                </a:solidFill>
                <a:latin typeface="Lato"/>
                <a:ea typeface="Lato"/>
                <a:cs typeface="Lato"/>
                <a:sym typeface="Lato"/>
              </a:rPr>
              <a:t>Metrics</a:t>
            </a:r>
            <a:endParaRPr sz="1600" b="1">
              <a:solidFill>
                <a:srgbClr val="2F5D7C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49" name="Google Shape;149;p20"/>
          <p:cNvSpPr txBox="1"/>
          <p:nvPr/>
        </p:nvSpPr>
        <p:spPr>
          <a:xfrm>
            <a:off x="4663440" y="2331720"/>
            <a:ext cx="4023300" cy="84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1F2937"/>
                </a:solidFill>
                <a:latin typeface="Lato"/>
                <a:ea typeface="Lato"/>
                <a:cs typeface="Lato"/>
                <a:sym typeface="Lato"/>
              </a:rPr>
              <a:t>MAE in USD as the primary metric, plus RMSE and R². Predictions are converted back with expm1 first.</a:t>
            </a:r>
            <a:endParaRPr>
              <a:solidFill>
                <a:srgbClr val="1F2937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50" name="Google Shape;150;p20"/>
          <p:cNvSpPr txBox="1"/>
          <p:nvPr/>
        </p:nvSpPr>
        <p:spPr>
          <a:xfrm>
            <a:off x="3474720" y="3200400"/>
            <a:ext cx="11886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600" b="1">
                <a:solidFill>
                  <a:srgbClr val="2F5D7C"/>
                </a:solidFill>
                <a:latin typeface="Lato"/>
                <a:ea typeface="Lato"/>
                <a:cs typeface="Lato"/>
                <a:sym typeface="Lato"/>
              </a:rPr>
              <a:t>Baselines</a:t>
            </a:r>
            <a:endParaRPr sz="1600" b="1">
              <a:solidFill>
                <a:srgbClr val="2F5D7C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51" name="Google Shape;151;p20"/>
          <p:cNvSpPr txBox="1"/>
          <p:nvPr/>
        </p:nvSpPr>
        <p:spPr>
          <a:xfrm>
            <a:off x="4663440" y="3200400"/>
            <a:ext cx="4023300" cy="62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1F2937"/>
                </a:solidFill>
                <a:latin typeface="Lato"/>
                <a:ea typeface="Lato"/>
                <a:cs typeface="Lato"/>
                <a:sym typeface="Lato"/>
              </a:rPr>
              <a:t>Training mean; single-feature OLS on GrLivArea; Random Forest on raw features.</a:t>
            </a:r>
            <a:endParaRPr>
              <a:solidFill>
                <a:srgbClr val="1F2937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52" name="Google Shape;152;p20"/>
          <p:cNvSpPr txBox="1"/>
          <p:nvPr/>
        </p:nvSpPr>
        <p:spPr>
          <a:xfrm>
            <a:off x="3474720" y="3840480"/>
            <a:ext cx="11886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600" b="1">
                <a:solidFill>
                  <a:srgbClr val="2F5D7C"/>
                </a:solidFill>
                <a:latin typeface="Lato"/>
                <a:ea typeface="Lato"/>
                <a:cs typeface="Lato"/>
                <a:sym typeface="Lato"/>
              </a:rPr>
              <a:t>Ablation</a:t>
            </a:r>
            <a:endParaRPr sz="1600" b="1">
              <a:solidFill>
                <a:srgbClr val="2F5D7C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53" name="Google Shape;153;p20"/>
          <p:cNvSpPr txBox="1"/>
          <p:nvPr/>
        </p:nvSpPr>
        <p:spPr>
          <a:xfrm>
            <a:off x="4663440" y="3840480"/>
            <a:ext cx="4023300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>
                <a:solidFill>
                  <a:srgbClr val="1F2937"/>
                </a:solidFill>
                <a:latin typeface="Lato"/>
                <a:ea typeface="Lato"/>
                <a:cs typeface="Lato"/>
              </a:rPr>
              <a:t>Same folds within each comparison. H1–H3: Ridge. Feature sets: Elastic Net (slide 10).</a:t>
            </a:r>
          </a:p>
        </p:txBody>
      </p:sp>
      <p:sp>
        <p:nvSpPr>
          <p:cNvPr id="154" name="threshold-interpretation">
            <a:extLst>
              <a:ext uri="{FF2B5EF4-FFF2-40B4-BE49-F238E27FC236}">
                <a16:creationId xmlns:a16="http://schemas.microsoft.com/office/drawing/2014/main" id="{93C799DD-740C-4DE0-B087-17AD2BE865EB}"/>
              </a:ext>
            </a:extLst>
          </p:cNvPr>
          <p:cNvSpPr>
            <a:spLocks noGrp="1"/>
          </p:cNvSpPr>
          <p:nvPr/>
        </p:nvSpPr>
        <p:spPr>
          <a:xfrm>
            <a:off x="457200" y="4617720"/>
            <a:ext cx="8229600" cy="411480"/>
          </a:xfrm>
          <a:prstGeom prst="rect">
            <a:avLst/>
          </a:prstGeom>
          <a:noFill/>
          <a:ln w="0">
            <a:noFill/>
          </a:ln>
        </p:spPr>
        <p:txBody>
          <a:bodyPr/>
          <a:lstStyle>
            <a:defPPr algn="l">
              <a:defRPr sz="1400">
                <a:solidFill>
                  <a:srgbClr val="6B7280"/>
                </a:solidFill>
                <a:latin typeface="Lato"/>
                <a:ea typeface="Lato"/>
                <a:cs typeface="Lato"/>
              </a:defRPr>
            </a:defPPr>
          </a:lstStyle>
          <a:p>
            <a:pPr algn="l">
              <a:defRPr sz="1400">
                <a:solidFill>
                  <a:srgbClr val="6B7280"/>
                </a:solidFill>
                <a:latin typeface="Lato"/>
                <a:ea typeface="Lato"/>
                <a:cs typeface="Lato"/>
              </a:defRPr>
            </a:pPr>
            <a:r>
              <a:rPr sz="1400">
                <a:solidFill>
                  <a:srgbClr val="6B7280"/>
                </a:solidFill>
                <a:latin typeface="Lato"/>
                <a:ea typeface="Lato"/>
                <a:cs typeface="Lato"/>
              </a:rPr>
              <a:t>This target describes average error, not a per-home bound or a confidence interval.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1"/>
          <p:cNvSpPr txBox="1"/>
          <p:nvPr/>
        </p:nvSpPr>
        <p:spPr>
          <a:xfrm>
            <a:off x="457200" y="201168"/>
            <a:ext cx="8229600" cy="107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800" b="1">
                <a:solidFill>
                  <a:srgbClr val="1F2937"/>
                </a:solidFill>
                <a:latin typeface="Merriweather"/>
                <a:ea typeface="Merriweather"/>
                <a:cs typeface="Merriweather"/>
              </a:rPr>
              <a:t>Elastic Net meets the $15,000 target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2800" b="1">
                <a:solidFill>
                  <a:srgbClr val="1F2937"/>
                </a:solidFill>
                <a:latin typeface="Merriweather"/>
                <a:ea typeface="Merriweather"/>
                <a:cs typeface="Merriweather"/>
              </a:rPr>
              <a:t>and outperforms the three baselines</a:t>
            </a:r>
          </a:p>
        </p:txBody>
      </p:sp>
      <p:graphicFrame>
        <p:nvGraphicFramePr>
          <p:cNvPr id="159" name="Google Shape;159;p21"/>
          <p:cNvGraphicFramePr/>
          <p:nvPr/>
        </p:nvGraphicFramePr>
        <p:xfrm>
          <a:off x="457200" y="1325880"/>
          <a:ext cx="5486325" cy="2255470"/>
        </p:xfrm>
        <a:graphic>
          <a:graphicData uri="http://schemas.openxmlformats.org/drawingml/2006/table">
            <a:tbl>
              <a:tblPr>
                <a:noFill/>
                <a:tableStyleId>{7FB88B2B-F026-4F9C-AE6C-60BBE9297B5A}</a:tableStyleId>
              </a:tblPr>
              <a:tblGrid>
                <a:gridCol w="2011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72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772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114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b="1">
                          <a:latin typeface="Lato"/>
                          <a:ea typeface="Lato"/>
                          <a:cs typeface="Lato"/>
                          <a:sym typeface="Lato"/>
                        </a:rPr>
                        <a:t>Model</a:t>
                      </a:r>
                      <a:endParaRPr b="1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b="1">
                          <a:latin typeface="Lato"/>
                          <a:ea typeface="Lato"/>
                          <a:cs typeface="Lato"/>
                          <a:sym typeface="Lato"/>
                        </a:rPr>
                        <a:t>CV MAE</a:t>
                      </a:r>
                      <a:endParaRPr b="1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b="1">
                          <a:latin typeface="Lato"/>
                          <a:ea typeface="Lato"/>
                          <a:cs typeface="Lato"/>
                          <a:sym typeface="Lato"/>
                        </a:rPr>
                        <a:t>Test MAE</a:t>
                      </a:r>
                      <a:endParaRPr b="1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b="1">
                          <a:latin typeface="Lato"/>
                          <a:ea typeface="Lato"/>
                          <a:cs typeface="Lato"/>
                          <a:sym typeface="Lato"/>
                        </a:rPr>
                        <a:t>R²</a:t>
                      </a:r>
                      <a:endParaRPr b="1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b="1">
                          <a:latin typeface="Lato"/>
                          <a:ea typeface="Lato"/>
                          <a:cs typeface="Lato"/>
                          <a:sym typeface="Lato"/>
                        </a:rPr>
                        <a:t>≤ $15k</a:t>
                      </a:r>
                      <a:endParaRPr b="1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b="1">
                          <a:latin typeface="Lato"/>
                          <a:ea typeface="Lato"/>
                          <a:cs typeface="Lato"/>
                          <a:sym typeface="Lato"/>
                        </a:rPr>
                        <a:t>Mean</a:t>
                      </a:r>
                      <a:endParaRPr b="1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latin typeface="Lato"/>
                          <a:ea typeface="Lato"/>
                          <a:cs typeface="Lato"/>
                          <a:sym typeface="Lato"/>
                        </a:rPr>
                        <a:t>$56,392</a:t>
                      </a:r>
                      <a:endParaRPr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latin typeface="Lato"/>
                          <a:ea typeface="Lato"/>
                          <a:cs typeface="Lato"/>
                          <a:sym typeface="Lato"/>
                        </a:rPr>
                        <a:t>$62,580</a:t>
                      </a:r>
                      <a:endParaRPr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latin typeface="Lato"/>
                          <a:ea typeface="Lato"/>
                          <a:cs typeface="Lato"/>
                          <a:sym typeface="Lato"/>
                        </a:rPr>
                        <a:t>0.00</a:t>
                      </a:r>
                      <a:endParaRPr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latin typeface="Lato"/>
                          <a:ea typeface="Lato"/>
                          <a:cs typeface="Lato"/>
                          <a:sym typeface="Lato"/>
                        </a:rPr>
                        <a:t>No</a:t>
                      </a:r>
                      <a:endParaRPr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b="1">
                          <a:latin typeface="Lato"/>
                          <a:ea typeface="Lato"/>
                          <a:cs typeface="Lato"/>
                          <a:sym typeface="Lato"/>
                        </a:rPr>
                        <a:t>Single-feature OLS</a:t>
                      </a:r>
                      <a:endParaRPr b="1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latin typeface="Lato"/>
                          <a:ea typeface="Lato"/>
                          <a:cs typeface="Lato"/>
                          <a:sym typeface="Lato"/>
                        </a:rPr>
                        <a:t>$37,160</a:t>
                      </a:r>
                      <a:endParaRPr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latin typeface="Lato"/>
                          <a:ea typeface="Lato"/>
                          <a:cs typeface="Lato"/>
                          <a:sym typeface="Lato"/>
                        </a:rPr>
                        <a:t>$38,474</a:t>
                      </a:r>
                      <a:endParaRPr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latin typeface="Lato"/>
                          <a:ea typeface="Lato"/>
                          <a:cs typeface="Lato"/>
                          <a:sym typeface="Lato"/>
                        </a:rPr>
                        <a:t>0.57</a:t>
                      </a:r>
                      <a:endParaRPr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latin typeface="Lato"/>
                          <a:ea typeface="Lato"/>
                          <a:cs typeface="Lato"/>
                          <a:sym typeface="Lato"/>
                        </a:rPr>
                        <a:t>No</a:t>
                      </a:r>
                      <a:endParaRPr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b="1">
                          <a:latin typeface="Lato"/>
                          <a:ea typeface="Lato"/>
                          <a:cs typeface="Lato"/>
                          <a:sym typeface="Lato"/>
                        </a:rPr>
                        <a:t>Random Forest</a:t>
                      </a:r>
                      <a:endParaRPr b="1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latin typeface="Lato"/>
                          <a:ea typeface="Lato"/>
                          <a:cs typeface="Lato"/>
                          <a:sym typeface="Lato"/>
                        </a:rPr>
                        <a:t>$16,554</a:t>
                      </a:r>
                      <a:endParaRPr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latin typeface="Lato"/>
                          <a:ea typeface="Lato"/>
                          <a:cs typeface="Lato"/>
                          <a:sym typeface="Lato"/>
                        </a:rPr>
                        <a:t>$16,384</a:t>
                      </a:r>
                      <a:endParaRPr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latin typeface="Lato"/>
                          <a:ea typeface="Lato"/>
                          <a:cs typeface="Lato"/>
                          <a:sym typeface="Lato"/>
                        </a:rPr>
                        <a:t>0.90</a:t>
                      </a:r>
                      <a:endParaRPr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latin typeface="Lato"/>
                          <a:ea typeface="Lato"/>
                          <a:cs typeface="Lato"/>
                          <a:sym typeface="Lato"/>
                        </a:rPr>
                        <a:t>No</a:t>
                      </a:r>
                      <a:endParaRPr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b="1">
                          <a:latin typeface="Lato"/>
                          <a:ea typeface="Lato"/>
                          <a:cs typeface="Lato"/>
                          <a:sym typeface="Lato"/>
                        </a:rPr>
                        <a:t>Elastic Net (ours)</a:t>
                      </a:r>
                      <a:endParaRPr b="1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>
                    <a:solidFill>
                      <a:srgbClr val="E3EC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latin typeface="Lato"/>
                          <a:ea typeface="Lato"/>
                          <a:cs typeface="Lato"/>
                          <a:sym typeface="Lato"/>
                        </a:rPr>
                        <a:t>$13,366</a:t>
                      </a:r>
                      <a:endParaRPr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>
                    <a:solidFill>
                      <a:srgbClr val="E3EC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b="1">
                          <a:latin typeface="Lato"/>
                          <a:ea typeface="Lato"/>
                          <a:cs typeface="Lato"/>
                          <a:sym typeface="Lato"/>
                        </a:rPr>
                        <a:t>$14,423</a:t>
                      </a:r>
                      <a:endParaRPr b="1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>
                    <a:solidFill>
                      <a:srgbClr val="E3EC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latin typeface="Lato"/>
                          <a:ea typeface="Lato"/>
                          <a:cs typeface="Lato"/>
                          <a:sym typeface="Lato"/>
                        </a:rPr>
                        <a:t>0.93</a:t>
                      </a:r>
                      <a:endParaRPr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>
                    <a:solidFill>
                      <a:srgbClr val="E3EC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b="1">
                          <a:latin typeface="Lato"/>
                          <a:ea typeface="Lato"/>
                          <a:cs typeface="Lato"/>
                          <a:sym typeface="Lato"/>
                        </a:rPr>
                        <a:t>Yes</a:t>
                      </a:r>
                      <a:endParaRPr b="1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>
                    <a:solidFill>
                      <a:srgbClr val="E3EC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60" name="Google Shape;160;p21"/>
          <p:cNvSpPr txBox="1"/>
          <p:nvPr/>
        </p:nvSpPr>
        <p:spPr>
          <a:xfrm>
            <a:off x="457200" y="3611880"/>
            <a:ext cx="54864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2385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Lato"/>
              <a:buChar char="●"/>
            </a:pPr>
            <a:r>
              <a:rPr sz="1500">
                <a:solidFill>
                  <a:srgbClr val="1F2937"/>
                </a:solidFill>
                <a:latin typeface="Lato"/>
                <a:ea typeface="Lato"/>
                <a:cs typeface="Lato"/>
              </a:rPr>
              <a:t>CV MAE $13,366 ± 809 (mean ± SD). Test MAE $14,423 on 292 test homes</a:t>
            </a:r>
          </a:p>
          <a:p>
            <a:pPr marL="457200" lvl="0" indent="-323850" algn="l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Lato"/>
              <a:buChar char="●"/>
            </a:pPr>
            <a:r>
              <a:rPr sz="1500">
                <a:solidFill>
                  <a:srgbClr val="1F2937"/>
                </a:solidFill>
                <a:latin typeface="Lato"/>
                <a:ea typeface="Lato"/>
                <a:cs typeface="Lato"/>
              </a:rPr>
              <a:t>Test RMSE $22,340, R² 0.935</a:t>
            </a:r>
          </a:p>
        </p:txBody>
      </p:sp>
      <p:sp>
        <p:nvSpPr>
          <p:cNvPr id="161" name="Google Shape;161;p21"/>
          <p:cNvSpPr/>
          <p:nvPr/>
        </p:nvSpPr>
        <p:spPr>
          <a:xfrm>
            <a:off x="6217920" y="1325880"/>
            <a:ext cx="2469000" cy="3200400"/>
          </a:xfrm>
          <a:prstGeom prst="roundRect">
            <a:avLst>
              <a:gd name="adj" fmla="val 16667"/>
            </a:avLst>
          </a:prstGeom>
          <a:solidFill>
            <a:srgbClr val="2F5D7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21"/>
          <p:cNvSpPr txBox="1"/>
          <p:nvPr/>
        </p:nvSpPr>
        <p:spPr>
          <a:xfrm>
            <a:off x="6309360" y="1554480"/>
            <a:ext cx="22860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3400" b="1">
                <a:solidFill>
                  <a:srgbClr val="FFFFFF"/>
                </a:solidFill>
                <a:latin typeface="Merriweather"/>
                <a:ea typeface="Merriweather"/>
                <a:cs typeface="Merriweather"/>
                <a:sym typeface="Merriweather"/>
              </a:rPr>
              <a:t>−$1,961</a:t>
            </a:r>
            <a:endParaRPr sz="3400" b="1">
              <a:solidFill>
                <a:srgbClr val="FFFFFF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163" name="Google Shape;163;p21"/>
          <p:cNvSpPr txBox="1"/>
          <p:nvPr/>
        </p:nvSpPr>
        <p:spPr>
          <a:xfrm>
            <a:off x="6309360" y="2286000"/>
            <a:ext cx="22860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FFFFFF"/>
                </a:solidFill>
                <a:latin typeface="Lato"/>
                <a:ea typeface="Lato"/>
                <a:cs typeface="Lato"/>
              </a:rPr>
              <a:t>Mean absolute error difference</a:t>
            </a:r>
          </a:p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FFFFFF"/>
                </a:solidFill>
                <a:latin typeface="Lato"/>
                <a:ea typeface="Lato"/>
                <a:cs typeface="Lato"/>
              </a:rPr>
              <a:t>Elastic Net − Random Forest</a:t>
            </a:r>
          </a:p>
        </p:txBody>
      </p:sp>
      <p:sp>
        <p:nvSpPr>
          <p:cNvPr id="164" name="Google Shape;164;p21"/>
          <p:cNvSpPr txBox="1"/>
          <p:nvPr/>
        </p:nvSpPr>
        <p:spPr>
          <a:xfrm>
            <a:off x="457200" y="4617720"/>
            <a:ext cx="82296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000">
                <a:solidFill>
                  <a:srgbClr val="6B7280"/>
                </a:solidFill>
                <a:latin typeface="Lato"/>
                <a:ea typeface="Lato"/>
                <a:cs typeface="Lato"/>
                <a:sym typeface="Lato"/>
              </a:rPr>
              <a:t>Test set evaluated once. Single-feature OLS uses GrLivArea. CI: paired bootstrap; p: paired permutation test on the 292 test homes.</a:t>
            </a:r>
            <a:endParaRPr sz="1000">
              <a:solidFill>
                <a:srgbClr val="6B728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65" name="Google Shape;165;p21"/>
          <p:cNvSpPr txBox="1"/>
          <p:nvPr/>
        </p:nvSpPr>
        <p:spPr>
          <a:xfrm>
            <a:off x="6217920" y="3291840"/>
            <a:ext cx="2469000" cy="82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E3ECF3"/>
                </a:solidFill>
                <a:latin typeface="Lato"/>
                <a:ea typeface="Lato"/>
                <a:cs typeface="Lato"/>
                <a:sym typeface="Lato"/>
              </a:rPr>
              <a:t>95% CI: −$3,847 to −$399</a:t>
            </a:r>
            <a:endParaRPr>
              <a:solidFill>
                <a:srgbClr val="E3ECF3"/>
              </a:solidFill>
              <a:latin typeface="Lato"/>
              <a:ea typeface="Lato"/>
              <a:cs typeface="Lato"/>
              <a:sym typeface="La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E3ECF3"/>
                </a:solidFill>
                <a:latin typeface="Lato"/>
                <a:ea typeface="Lato"/>
                <a:cs typeface="Lato"/>
                <a:sym typeface="Lato"/>
              </a:rPr>
              <a:t>permutation p = 0.017</a:t>
            </a:r>
            <a:endParaRPr>
              <a:solidFill>
                <a:srgbClr val="E3ECF3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2"/>
          <p:cNvSpPr txBox="1"/>
          <p:nvPr/>
        </p:nvSpPr>
        <p:spPr>
          <a:xfrm>
            <a:off x="457200" y="201168"/>
            <a:ext cx="8229600" cy="107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800" b="1">
                <a:solidFill>
                  <a:srgbClr val="1F2937"/>
                </a:solidFill>
                <a:latin typeface="Merriweather"/>
                <a:ea typeface="Merriweather"/>
                <a:cs typeface="Merriweather"/>
                <a:sym typeface="Merriweather"/>
              </a:rPr>
              <a:t>Only the quality × area interaction improved all five folds</a:t>
            </a:r>
            <a:endParaRPr sz="2800" b="1">
              <a:solidFill>
                <a:srgbClr val="1F2937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graphicFrame>
        <p:nvGraphicFramePr>
          <p:cNvPr id="171" name="Google Shape;171;p22"/>
          <p:cNvGraphicFramePr/>
          <p:nvPr/>
        </p:nvGraphicFramePr>
        <p:xfrm>
          <a:off x="457200" y="1325880"/>
          <a:ext cx="8229550" cy="2286000"/>
        </p:xfrm>
        <a:graphic>
          <a:graphicData uri="http://schemas.openxmlformats.org/drawingml/2006/table">
            <a:tbl>
              <a:tblPr>
                <a:noFill/>
                <a:tableStyleId>{7FB88B2B-F026-4F9C-AE6C-60BBE9297B5A}</a:tableStyleId>
              </a:tblPr>
              <a:tblGrid>
                <a:gridCol w="2651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17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b="1">
                          <a:latin typeface="Lato"/>
                          <a:ea typeface="Lato"/>
                          <a:cs typeface="Lato"/>
                          <a:sym typeface="Lato"/>
                        </a:rPr>
                        <a:t>Change tested</a:t>
                      </a:r>
                      <a:endParaRPr b="1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b="1">
                          <a:latin typeface="Lato"/>
                          <a:ea typeface="Lato"/>
                          <a:cs typeface="Lato"/>
                          <a:sym typeface="Lato"/>
                        </a:rPr>
                        <a:t>ΔCV RMSE</a:t>
                      </a:r>
                      <a:endParaRPr b="1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b="1">
                          <a:latin typeface="Lato"/>
                          <a:ea typeface="Lato"/>
                          <a:cs typeface="Lato"/>
                          <a:sym typeface="Lato"/>
                        </a:rPr>
                        <a:t>Folds</a:t>
                      </a:r>
                      <a:endParaRPr b="1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b="1">
                          <a:latin typeface="Lato"/>
                          <a:ea typeface="Lato"/>
                          <a:cs typeface="Lato"/>
                          <a:sym typeface="Lato"/>
                        </a:rPr>
                        <a:t>Decision</a:t>
                      </a:r>
                      <a:endParaRPr b="1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b="1">
                          <a:latin typeface="Lato"/>
                          <a:ea typeface="Lato"/>
                          <a:cs typeface="Lato"/>
                          <a:sym typeface="Lato"/>
                        </a:rPr>
                        <a:t>H1: add QualityArea</a:t>
                      </a:r>
                      <a:endParaRPr b="1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>
                    <a:solidFill>
                      <a:srgbClr val="E3EC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b="1">
                          <a:latin typeface="Lato"/>
                          <a:ea typeface="Lato"/>
                          <a:cs typeface="Lato"/>
                          <a:sym typeface="Lato"/>
                        </a:rPr>
                        <a:t>−$1,222 (−5.7%)</a:t>
                      </a:r>
                      <a:endParaRPr b="1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>
                    <a:solidFill>
                      <a:srgbClr val="E3EC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latin typeface="Lato"/>
                          <a:ea typeface="Lato"/>
                          <a:cs typeface="Lato"/>
                          <a:sym typeface="Lato"/>
                        </a:rPr>
                        <a:t>5 / 5</a:t>
                      </a:r>
                      <a:endParaRPr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>
                    <a:solidFill>
                      <a:srgbClr val="E3EC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latin typeface="Lato"/>
                          <a:ea typeface="Lato"/>
                          <a:cs typeface="Lato"/>
                          <a:sym typeface="Lato"/>
                        </a:rPr>
                        <a:t>Kept</a:t>
                      </a:r>
                      <a:endParaRPr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>
                    <a:solidFill>
                      <a:srgbClr val="E3EC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b="1">
                          <a:latin typeface="Lato"/>
                          <a:ea typeface="Lato"/>
                          <a:cs typeface="Lato"/>
                          <a:sym typeface="Lato"/>
                        </a:rPr>
                        <a:t>H2: LotArea → log</a:t>
                      </a:r>
                      <a:endParaRPr b="1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latin typeface="Lato"/>
                          <a:ea typeface="Lato"/>
                          <a:cs typeface="Lato"/>
                          <a:sym typeface="Lato"/>
                        </a:rPr>
                        <a:t>−$241 (−1.1%)</a:t>
                      </a:r>
                      <a:endParaRPr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latin typeface="Lato"/>
                          <a:ea typeface="Lato"/>
                          <a:cs typeface="Lato"/>
                          <a:sym typeface="Lato"/>
                        </a:rPr>
                        <a:t>4 / 5</a:t>
                      </a:r>
                      <a:endParaRPr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latin typeface="Lato"/>
                          <a:ea typeface="Lato"/>
                          <a:cs typeface="Lato"/>
                          <a:sym typeface="Lato"/>
                        </a:rPr>
                        <a:t>Dropped: Box-Cox covers it</a:t>
                      </a:r>
                      <a:endParaRPr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b="1">
                          <a:latin typeface="Lato"/>
                          <a:ea typeface="Lato"/>
                          <a:cs typeface="Lato"/>
                          <a:sym typeface="Lato"/>
                        </a:rPr>
                        <a:t>H3: 3 area columns → TotalSF</a:t>
                      </a:r>
                      <a:endParaRPr b="1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latin typeface="Lato"/>
                          <a:ea typeface="Lato"/>
                          <a:cs typeface="Lato"/>
                          <a:sym typeface="Lato"/>
                        </a:rPr>
                        <a:t>−$235 (−1.1%)</a:t>
                      </a:r>
                      <a:endParaRPr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latin typeface="Lato"/>
                          <a:ea typeface="Lato"/>
                          <a:cs typeface="Lato"/>
                          <a:sym typeface="Lato"/>
                        </a:rPr>
                        <a:t>3 / 5</a:t>
                      </a:r>
                      <a:endParaRPr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latin typeface="Lato"/>
                          <a:ea typeface="Lato"/>
                          <a:cs typeface="Lato"/>
                          <a:sym typeface="Lato"/>
                        </a:rPr>
                        <a:t>Dropped: small gain</a:t>
                      </a:r>
                      <a:endParaRPr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b="1">
                          <a:latin typeface="Lato"/>
                          <a:ea typeface="Lato"/>
                          <a:cs typeface="Lato"/>
                          <a:sym typeface="Lato"/>
                        </a:rPr>
                        <a:t>Keep only MI Top-20 features</a:t>
                      </a:r>
                      <a:endParaRPr b="1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latin typeface="Lato"/>
                          <a:ea typeface="Lato"/>
                          <a:cs typeface="Lato"/>
                          <a:sym typeface="Lato"/>
                        </a:rPr>
                        <a:t>+$3,909 (+18%)</a:t>
                      </a:r>
                      <a:endParaRPr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latin typeface="Lato"/>
                          <a:ea typeface="Lato"/>
                          <a:cs typeface="Lato"/>
                          <a:sym typeface="Lato"/>
                        </a:rPr>
                        <a:t>n/a</a:t>
                      </a:r>
                      <a:endParaRPr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latin typeface="Lato"/>
                          <a:ea typeface="Lato"/>
                          <a:cs typeface="Lato"/>
                          <a:sym typeface="Lato"/>
                        </a:rPr>
                        <a:t>Dropped</a:t>
                      </a:r>
                      <a:endParaRPr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2" name="Google Shape;172;p22"/>
          <p:cNvSpPr txBox="1"/>
          <p:nvPr/>
        </p:nvSpPr>
        <p:spPr>
          <a:xfrm>
            <a:off x="457200" y="3749040"/>
            <a:ext cx="82296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500">
                <a:solidFill>
                  <a:srgbClr val="1F2937"/>
                </a:solidFill>
                <a:latin typeface="Lato"/>
                <a:ea typeface="Lato"/>
                <a:cs typeface="Lato"/>
                <a:sym typeface="Lato"/>
              </a:rPr>
              <a:t>Final features: all raw attributes + QualityArea. CV MAE $13,366, vs $13,750 with raw attributes alone.</a:t>
            </a:r>
            <a:endParaRPr sz="1500">
              <a:solidFill>
                <a:srgbClr val="1F2937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73" name="Google Shape;173;p22"/>
          <p:cNvSpPr txBox="1"/>
          <p:nvPr/>
        </p:nvSpPr>
        <p:spPr>
          <a:xfrm>
            <a:off x="457200" y="4617720"/>
            <a:ext cx="82296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000">
                <a:solidFill>
                  <a:srgbClr val="6B7280"/>
                </a:solidFill>
                <a:latin typeface="Lato"/>
                <a:ea typeface="Lato"/>
                <a:cs typeface="Lato"/>
                <a:sym typeface="Lato"/>
              </a:rPr>
              <a:t>H1 to H3: Ridge (α = 10), log1p target, same 5 folds. MI Top-20: Elastic Net vs all raw features.</a:t>
            </a:r>
            <a:endParaRPr sz="1000">
              <a:solidFill>
                <a:srgbClr val="6B7280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3"/>
          <p:cNvSpPr txBox="1"/>
          <p:nvPr/>
        </p:nvSpPr>
        <p:spPr>
          <a:xfrm>
            <a:off x="457200" y="201168"/>
            <a:ext cx="8229600" cy="107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800" b="1">
                <a:solidFill>
                  <a:srgbClr val="1F2937"/>
                </a:solidFill>
                <a:latin typeface="Merriweather"/>
                <a:ea typeface="Merriweather"/>
                <a:cs typeface="Merriweather"/>
                <a:sym typeface="Merriweather"/>
              </a:rPr>
              <a:t>Quality, living area and build year carry the largest coefficients</a:t>
            </a:r>
            <a:endParaRPr sz="2800" b="1">
              <a:solidFill>
                <a:srgbClr val="1F2937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179" name="Google Shape;179;p23"/>
          <p:cNvSpPr txBox="1"/>
          <p:nvPr/>
        </p:nvSpPr>
        <p:spPr>
          <a:xfrm>
            <a:off x="457200" y="1325880"/>
            <a:ext cx="14631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b="1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QualityArea</a:t>
            </a:r>
            <a:endParaRPr b="1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80" name="Google Shape;180;p23"/>
          <p:cNvSpPr/>
          <p:nvPr/>
        </p:nvSpPr>
        <p:spPr>
          <a:xfrm>
            <a:off x="2011680" y="1371600"/>
            <a:ext cx="2926200" cy="274200"/>
          </a:xfrm>
          <a:prstGeom prst="rect">
            <a:avLst/>
          </a:prstGeom>
          <a:solidFill>
            <a:srgbClr val="2F5D7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p23"/>
          <p:cNvSpPr txBox="1"/>
          <p:nvPr/>
        </p:nvSpPr>
        <p:spPr>
          <a:xfrm>
            <a:off x="4983480" y="1325880"/>
            <a:ext cx="7314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b="1">
                <a:solidFill>
                  <a:srgbClr val="2F5D7C"/>
                </a:solidFill>
                <a:latin typeface="Lato"/>
                <a:ea typeface="Lato"/>
                <a:cs typeface="Lato"/>
                <a:sym typeface="Lato"/>
              </a:rPr>
              <a:t>0.077</a:t>
            </a:r>
            <a:endParaRPr b="1">
              <a:solidFill>
                <a:srgbClr val="2F5D7C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82" name="Google Shape;182;p23"/>
          <p:cNvSpPr txBox="1"/>
          <p:nvPr/>
        </p:nvSpPr>
        <p:spPr>
          <a:xfrm>
            <a:off x="457200" y="1764792"/>
            <a:ext cx="14631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GrLivArea</a:t>
            </a:r>
            <a:endParaRPr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83" name="Google Shape;183;p23"/>
          <p:cNvSpPr/>
          <p:nvPr/>
        </p:nvSpPr>
        <p:spPr>
          <a:xfrm>
            <a:off x="2011680" y="1810512"/>
            <a:ext cx="2682900" cy="274200"/>
          </a:xfrm>
          <a:prstGeom prst="rect">
            <a:avLst/>
          </a:prstGeom>
          <a:solidFill>
            <a:srgbClr val="A9BCC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4" name="Google Shape;184;p23"/>
          <p:cNvSpPr txBox="1"/>
          <p:nvPr/>
        </p:nvSpPr>
        <p:spPr>
          <a:xfrm>
            <a:off x="4740273" y="1764792"/>
            <a:ext cx="7314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6B7280"/>
                </a:solidFill>
                <a:latin typeface="Lato"/>
                <a:ea typeface="Lato"/>
                <a:cs typeface="Lato"/>
                <a:sym typeface="Lato"/>
              </a:rPr>
              <a:t>0.071</a:t>
            </a:r>
            <a:endParaRPr>
              <a:solidFill>
                <a:srgbClr val="6B728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85" name="Google Shape;185;p23"/>
          <p:cNvSpPr txBox="1"/>
          <p:nvPr/>
        </p:nvSpPr>
        <p:spPr>
          <a:xfrm>
            <a:off x="457200" y="2203704"/>
            <a:ext cx="14631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YearBuilt</a:t>
            </a:r>
            <a:endParaRPr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86" name="Google Shape;186;p23"/>
          <p:cNvSpPr/>
          <p:nvPr/>
        </p:nvSpPr>
        <p:spPr>
          <a:xfrm>
            <a:off x="2011680" y="2249424"/>
            <a:ext cx="2667600" cy="274200"/>
          </a:xfrm>
          <a:prstGeom prst="rect">
            <a:avLst/>
          </a:prstGeom>
          <a:solidFill>
            <a:srgbClr val="A9BCC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23"/>
          <p:cNvSpPr txBox="1"/>
          <p:nvPr/>
        </p:nvSpPr>
        <p:spPr>
          <a:xfrm>
            <a:off x="4725073" y="2203704"/>
            <a:ext cx="7314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6B7280"/>
                </a:solidFill>
                <a:latin typeface="Lato"/>
                <a:ea typeface="Lato"/>
                <a:cs typeface="Lato"/>
                <a:sym typeface="Lato"/>
              </a:rPr>
              <a:t>0.070</a:t>
            </a:r>
            <a:endParaRPr>
              <a:solidFill>
                <a:srgbClr val="6B728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88" name="Google Shape;188;p23"/>
          <p:cNvSpPr txBox="1"/>
          <p:nvPr/>
        </p:nvSpPr>
        <p:spPr>
          <a:xfrm>
            <a:off x="457200" y="2642616"/>
            <a:ext cx="14631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OverallCond</a:t>
            </a:r>
            <a:endParaRPr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89" name="Google Shape;189;p23"/>
          <p:cNvSpPr/>
          <p:nvPr/>
        </p:nvSpPr>
        <p:spPr>
          <a:xfrm>
            <a:off x="2011680" y="2688336"/>
            <a:ext cx="1767000" cy="274200"/>
          </a:xfrm>
          <a:prstGeom prst="rect">
            <a:avLst/>
          </a:prstGeom>
          <a:solidFill>
            <a:srgbClr val="A9BCC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0" name="Google Shape;190;p23"/>
          <p:cNvSpPr txBox="1"/>
          <p:nvPr/>
        </p:nvSpPr>
        <p:spPr>
          <a:xfrm>
            <a:off x="3824448" y="2642616"/>
            <a:ext cx="7314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6B7280"/>
                </a:solidFill>
                <a:latin typeface="Lato"/>
                <a:ea typeface="Lato"/>
                <a:cs typeface="Lato"/>
                <a:sym typeface="Lato"/>
              </a:rPr>
              <a:t>0.047</a:t>
            </a:r>
            <a:endParaRPr>
              <a:solidFill>
                <a:srgbClr val="6B728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91" name="Google Shape;191;p23"/>
          <p:cNvSpPr txBox="1"/>
          <p:nvPr/>
        </p:nvSpPr>
        <p:spPr>
          <a:xfrm>
            <a:off x="457200" y="3081528"/>
            <a:ext cx="14631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LotArea</a:t>
            </a:r>
            <a:endParaRPr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92" name="Google Shape;192;p23"/>
          <p:cNvSpPr/>
          <p:nvPr/>
        </p:nvSpPr>
        <p:spPr>
          <a:xfrm>
            <a:off x="2011680" y="3127248"/>
            <a:ext cx="1443900" cy="274200"/>
          </a:xfrm>
          <a:prstGeom prst="rect">
            <a:avLst/>
          </a:prstGeom>
          <a:solidFill>
            <a:srgbClr val="A9BCC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3" name="Google Shape;193;p23"/>
          <p:cNvSpPr txBox="1"/>
          <p:nvPr/>
        </p:nvSpPr>
        <p:spPr>
          <a:xfrm>
            <a:off x="3501439" y="3081528"/>
            <a:ext cx="7314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6B7280"/>
                </a:solidFill>
                <a:latin typeface="Lato"/>
                <a:ea typeface="Lato"/>
                <a:cs typeface="Lato"/>
                <a:sym typeface="Lato"/>
              </a:rPr>
              <a:t>0.038</a:t>
            </a:r>
            <a:endParaRPr>
              <a:solidFill>
                <a:srgbClr val="6B728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94" name="Google Shape;194;p23"/>
          <p:cNvSpPr txBox="1"/>
          <p:nvPr/>
        </p:nvSpPr>
        <p:spPr>
          <a:xfrm>
            <a:off x="457200" y="3520440"/>
            <a:ext cx="14631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OverallQual</a:t>
            </a:r>
            <a:endParaRPr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95" name="Google Shape;195;p23"/>
          <p:cNvSpPr/>
          <p:nvPr/>
        </p:nvSpPr>
        <p:spPr>
          <a:xfrm>
            <a:off x="2011680" y="3566160"/>
            <a:ext cx="1371900" cy="274200"/>
          </a:xfrm>
          <a:prstGeom prst="rect">
            <a:avLst/>
          </a:prstGeom>
          <a:solidFill>
            <a:srgbClr val="A9BCC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23"/>
          <p:cNvSpPr txBox="1"/>
          <p:nvPr/>
        </p:nvSpPr>
        <p:spPr>
          <a:xfrm>
            <a:off x="3429238" y="3520440"/>
            <a:ext cx="7314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6B7280"/>
                </a:solidFill>
                <a:latin typeface="Lato"/>
                <a:ea typeface="Lato"/>
                <a:cs typeface="Lato"/>
                <a:sym typeface="Lato"/>
              </a:rPr>
              <a:t>0.036</a:t>
            </a:r>
            <a:endParaRPr>
              <a:solidFill>
                <a:srgbClr val="6B728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97" name="Google Shape;197;p23"/>
          <p:cNvSpPr txBox="1"/>
          <p:nvPr/>
        </p:nvSpPr>
        <p:spPr>
          <a:xfrm>
            <a:off x="457200" y="3959352"/>
            <a:ext cx="14631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TotalBsmtSF</a:t>
            </a:r>
            <a:endParaRPr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198" name="Google Shape;198;p23"/>
          <p:cNvSpPr/>
          <p:nvPr/>
        </p:nvSpPr>
        <p:spPr>
          <a:xfrm>
            <a:off x="2011680" y="4005072"/>
            <a:ext cx="1219800" cy="274200"/>
          </a:xfrm>
          <a:prstGeom prst="rect">
            <a:avLst/>
          </a:prstGeom>
          <a:solidFill>
            <a:srgbClr val="A9BCC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23"/>
          <p:cNvSpPr txBox="1"/>
          <p:nvPr/>
        </p:nvSpPr>
        <p:spPr>
          <a:xfrm>
            <a:off x="3277233" y="3959352"/>
            <a:ext cx="731400" cy="3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6B7280"/>
                </a:solidFill>
                <a:latin typeface="Lato"/>
                <a:ea typeface="Lato"/>
                <a:cs typeface="Lato"/>
                <a:sym typeface="Lato"/>
              </a:rPr>
              <a:t>0.032</a:t>
            </a:r>
            <a:endParaRPr>
              <a:solidFill>
                <a:srgbClr val="6B7280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00" name="Google Shape;200;p23"/>
          <p:cNvSpPr txBox="1"/>
          <p:nvPr/>
        </p:nvSpPr>
        <p:spPr>
          <a:xfrm>
            <a:off x="6035040" y="1371600"/>
            <a:ext cx="2651700" cy="310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Lato"/>
              <a:buChar char="●"/>
            </a:pPr>
            <a:r>
              <a:rPr lang="zh-TW" sz="1500">
                <a:solidFill>
                  <a:srgbClr val="1F2937"/>
                </a:solidFill>
                <a:latin typeface="Lato"/>
                <a:ea typeface="Lato"/>
                <a:cs typeface="Lato"/>
                <a:sym typeface="Lato"/>
              </a:rPr>
              <a:t>All seven have bootstrap 95% CIs that exclude 0</a:t>
            </a:r>
            <a:endParaRPr sz="1500">
              <a:solidFill>
                <a:srgbClr val="1F2937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Lato"/>
              <a:buChar char="●"/>
            </a:pPr>
            <a:r>
              <a:rPr lang="zh-TW" sz="1500">
                <a:solidFill>
                  <a:srgbClr val="1F2937"/>
                </a:solidFill>
                <a:latin typeface="Lato"/>
                <a:ea typeface="Lato"/>
                <a:cs typeface="Lato"/>
                <a:sym typeface="Lato"/>
              </a:rPr>
              <a:t>High VIF (GrLivArea 58, QualityArea 33): read as associations, not separate effects</a:t>
            </a:r>
            <a:endParaRPr sz="1500">
              <a:solidFill>
                <a:srgbClr val="1F2937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rgbClr val="1F2937"/>
              </a:buClr>
              <a:buSzPts val="1500"/>
              <a:buFont typeface="Lato"/>
              <a:buChar char="●"/>
            </a:pPr>
            <a:r>
              <a:rPr lang="zh-TW" sz="1500">
                <a:solidFill>
                  <a:srgbClr val="1F2937"/>
                </a:solidFill>
                <a:latin typeface="Lato"/>
                <a:ea typeface="Lato"/>
                <a:cs typeface="Lato"/>
                <a:sym typeface="Lato"/>
              </a:rPr>
              <a:t>None stays significant after Holm correction</a:t>
            </a:r>
            <a:endParaRPr sz="1500">
              <a:solidFill>
                <a:srgbClr val="1F2937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01" name="Google Shape;201;p23"/>
          <p:cNvSpPr txBox="1"/>
          <p:nvPr/>
        </p:nvSpPr>
        <p:spPr>
          <a:xfrm>
            <a:off x="457200" y="4617720"/>
            <a:ext cx="82296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000">
                <a:solidFill>
                  <a:srgbClr val="6B7280"/>
                </a:solidFill>
                <a:latin typeface="Lato"/>
                <a:ea typeface="Lato"/>
                <a:cs typeface="Lato"/>
                <a:sym typeface="Lato"/>
              </a:rPr>
              <a:t>Standardized coefficient: change in log1p(price) per training SD. CIs from 1,000 bootstrap resamples.</a:t>
            </a:r>
            <a:endParaRPr sz="1000">
              <a:solidFill>
                <a:srgbClr val="6B7280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4"/>
          <p:cNvSpPr txBox="1"/>
          <p:nvPr/>
        </p:nvSpPr>
        <p:spPr>
          <a:xfrm>
            <a:off x="457200" y="201168"/>
            <a:ext cx="8229600" cy="107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800" b="1">
                <a:solidFill>
                  <a:srgbClr val="1F2937"/>
                </a:solidFill>
                <a:latin typeface="Merriweather"/>
                <a:ea typeface="Merriweather"/>
                <a:cs typeface="Merriweather"/>
                <a:sym typeface="Merriweather"/>
              </a:rPr>
              <a:t>Errors double for high-quality homes, which the model under-prices</a:t>
            </a:r>
            <a:endParaRPr sz="2800" b="1">
              <a:solidFill>
                <a:srgbClr val="1F2937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07" name="Google Shape;207;p24"/>
          <p:cNvSpPr txBox="1"/>
          <p:nvPr/>
        </p:nvSpPr>
        <p:spPr>
          <a:xfrm>
            <a:off x="457200" y="1325880"/>
            <a:ext cx="44805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600" b="1">
                <a:solidFill>
                  <a:srgbClr val="2F5D7C"/>
                </a:solidFill>
                <a:latin typeface="Lato"/>
                <a:ea typeface="Lato"/>
                <a:cs typeface="Lato"/>
                <a:sym typeface="Lato"/>
              </a:rPr>
              <a:t>Test MAE by overall quality</a:t>
            </a:r>
            <a:endParaRPr sz="1600" b="1">
              <a:solidFill>
                <a:srgbClr val="2F5D7C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08" name="Google Shape;208;p24"/>
          <p:cNvSpPr txBox="1"/>
          <p:nvPr/>
        </p:nvSpPr>
        <p:spPr>
          <a:xfrm>
            <a:off x="274320" y="1828800"/>
            <a:ext cx="21945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Quality ≤ 5 (n = 123)</a:t>
            </a:r>
            <a:endParaRPr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09" name="Google Shape;209;p24"/>
          <p:cNvSpPr/>
          <p:nvPr/>
        </p:nvSpPr>
        <p:spPr>
          <a:xfrm>
            <a:off x="2560320" y="1874520"/>
            <a:ext cx="586800" cy="320100"/>
          </a:xfrm>
          <a:prstGeom prst="rect">
            <a:avLst/>
          </a:prstGeom>
          <a:solidFill>
            <a:srgbClr val="A9BCC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0" name="Google Shape;210;p24"/>
          <p:cNvSpPr txBox="1"/>
          <p:nvPr/>
        </p:nvSpPr>
        <p:spPr>
          <a:xfrm>
            <a:off x="3192876" y="1847088"/>
            <a:ext cx="10059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$11,085</a:t>
            </a:r>
            <a:endParaRPr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11" name="Google Shape;211;p24"/>
          <p:cNvSpPr txBox="1"/>
          <p:nvPr/>
        </p:nvSpPr>
        <p:spPr>
          <a:xfrm>
            <a:off x="274320" y="2514600"/>
            <a:ext cx="21945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Quality 6 to 7 (n = 124)</a:t>
            </a:r>
            <a:endParaRPr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12" name="Google Shape;212;p24"/>
          <p:cNvSpPr/>
          <p:nvPr/>
        </p:nvSpPr>
        <p:spPr>
          <a:xfrm>
            <a:off x="2560320" y="2560320"/>
            <a:ext cx="684900" cy="320100"/>
          </a:xfrm>
          <a:prstGeom prst="rect">
            <a:avLst/>
          </a:prstGeom>
          <a:solidFill>
            <a:srgbClr val="A9BCC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24"/>
          <p:cNvSpPr txBox="1"/>
          <p:nvPr/>
        </p:nvSpPr>
        <p:spPr>
          <a:xfrm>
            <a:off x="3290973" y="2532888"/>
            <a:ext cx="10059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$12,938</a:t>
            </a:r>
            <a:endParaRPr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14" name="Google Shape;214;p24"/>
          <p:cNvSpPr txBox="1"/>
          <p:nvPr/>
        </p:nvSpPr>
        <p:spPr>
          <a:xfrm>
            <a:off x="274320" y="3200400"/>
            <a:ext cx="21945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b="1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Quality ≥ 8 (n = 45)</a:t>
            </a:r>
            <a:endParaRPr b="1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15" name="Google Shape;215;p24"/>
          <p:cNvSpPr/>
          <p:nvPr/>
        </p:nvSpPr>
        <p:spPr>
          <a:xfrm>
            <a:off x="2560320" y="3246120"/>
            <a:ext cx="1463100" cy="320100"/>
          </a:xfrm>
          <a:prstGeom prst="rect">
            <a:avLst/>
          </a:prstGeom>
          <a:solidFill>
            <a:srgbClr val="2F5D7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24"/>
          <p:cNvSpPr txBox="1"/>
          <p:nvPr/>
        </p:nvSpPr>
        <p:spPr>
          <a:xfrm>
            <a:off x="4069080" y="3218688"/>
            <a:ext cx="10059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b="1">
                <a:solidFill>
                  <a:srgbClr val="2F5D7C"/>
                </a:solidFill>
                <a:latin typeface="Lato"/>
                <a:ea typeface="Lato"/>
                <a:cs typeface="Lato"/>
                <a:sym typeface="Lato"/>
              </a:rPr>
              <a:t>$27,636</a:t>
            </a:r>
            <a:endParaRPr b="1">
              <a:solidFill>
                <a:srgbClr val="2F5D7C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17" name="Google Shape;217;p24"/>
          <p:cNvSpPr txBox="1"/>
          <p:nvPr/>
        </p:nvSpPr>
        <p:spPr>
          <a:xfrm>
            <a:off x="5120640" y="1325880"/>
            <a:ext cx="35661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600" b="1">
                <a:solidFill>
                  <a:srgbClr val="2F5D7C"/>
                </a:solidFill>
                <a:latin typeface="Lato"/>
                <a:ea typeface="Lato"/>
                <a:cs typeface="Lato"/>
                <a:sym typeface="Lato"/>
              </a:rPr>
              <a:t>Largest test errors</a:t>
            </a:r>
            <a:endParaRPr sz="1600" b="1">
              <a:solidFill>
                <a:srgbClr val="2F5D7C"/>
              </a:solidFill>
              <a:latin typeface="Lato"/>
              <a:ea typeface="Lato"/>
              <a:cs typeface="Lato"/>
              <a:sym typeface="Lato"/>
            </a:endParaRPr>
          </a:p>
        </p:txBody>
      </p:sp>
      <p:graphicFrame>
        <p:nvGraphicFramePr>
          <p:cNvPr id="218" name="Google Shape;218;p24"/>
          <p:cNvGraphicFramePr/>
          <p:nvPr/>
        </p:nvGraphicFramePr>
        <p:xfrm>
          <a:off x="5120640" y="1783080"/>
          <a:ext cx="3611850" cy="1584840"/>
        </p:xfrm>
        <a:graphic>
          <a:graphicData uri="http://schemas.openxmlformats.org/drawingml/2006/table">
            <a:tbl>
              <a:tblPr>
                <a:noFill/>
                <a:tableStyleId>{7FB88B2B-F026-4F9C-AE6C-60BBE9297B5A}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1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29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b="1">
                          <a:latin typeface="Lato"/>
                          <a:ea typeface="Lato"/>
                          <a:cs typeface="Lato"/>
                          <a:sym typeface="Lato"/>
                        </a:rPr>
                        <a:t>Id</a:t>
                      </a:r>
                      <a:endParaRPr b="1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b="1">
                          <a:latin typeface="Lato"/>
                          <a:ea typeface="Lato"/>
                          <a:cs typeface="Lato"/>
                          <a:sym typeface="Lato"/>
                        </a:rPr>
                        <a:t>Actual</a:t>
                      </a:r>
                      <a:endParaRPr b="1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b="1">
                          <a:latin typeface="Lato"/>
                          <a:ea typeface="Lato"/>
                          <a:cs typeface="Lato"/>
                          <a:sym typeface="Lato"/>
                        </a:rPr>
                        <a:t>Predicted</a:t>
                      </a:r>
                      <a:endParaRPr b="1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b="1">
                          <a:latin typeface="Lato"/>
                          <a:ea typeface="Lato"/>
                          <a:cs typeface="Lato"/>
                          <a:sym typeface="Lato"/>
                        </a:rPr>
                        <a:t>Quality</a:t>
                      </a:r>
                      <a:endParaRPr b="1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b="1">
                          <a:latin typeface="Lato"/>
                          <a:ea typeface="Lato"/>
                          <a:cs typeface="Lato"/>
                          <a:sym typeface="Lato"/>
                        </a:rPr>
                        <a:t>899</a:t>
                      </a:r>
                      <a:endParaRPr b="1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latin typeface="Lato"/>
                          <a:ea typeface="Lato"/>
                          <a:cs typeface="Lato"/>
                          <a:sym typeface="Lato"/>
                        </a:rPr>
                        <a:t>$611,657</a:t>
                      </a:r>
                      <a:endParaRPr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latin typeface="Lato"/>
                          <a:ea typeface="Lato"/>
                          <a:cs typeface="Lato"/>
                          <a:sym typeface="Lato"/>
                        </a:rPr>
                        <a:t>$473,938</a:t>
                      </a:r>
                      <a:endParaRPr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latin typeface="Lato"/>
                          <a:ea typeface="Lato"/>
                          <a:cs typeface="Lato"/>
                          <a:sym typeface="Lato"/>
                        </a:rPr>
                        <a:t>9</a:t>
                      </a:r>
                      <a:endParaRPr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b="1">
                          <a:latin typeface="Lato"/>
                          <a:ea typeface="Lato"/>
                          <a:cs typeface="Lato"/>
                          <a:sym typeface="Lato"/>
                        </a:rPr>
                        <a:t>775</a:t>
                      </a:r>
                      <a:endParaRPr b="1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latin typeface="Lato"/>
                          <a:ea typeface="Lato"/>
                          <a:cs typeface="Lato"/>
                          <a:sym typeface="Lato"/>
                        </a:rPr>
                        <a:t>$395,000</a:t>
                      </a:r>
                      <a:endParaRPr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latin typeface="Lato"/>
                          <a:ea typeface="Lato"/>
                          <a:cs typeface="Lato"/>
                          <a:sym typeface="Lato"/>
                        </a:rPr>
                        <a:t>$295,840</a:t>
                      </a:r>
                      <a:endParaRPr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latin typeface="Lato"/>
                          <a:ea typeface="Lato"/>
                          <a:cs typeface="Lato"/>
                          <a:sym typeface="Lato"/>
                        </a:rPr>
                        <a:t>8</a:t>
                      </a:r>
                      <a:endParaRPr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b="1">
                          <a:latin typeface="Lato"/>
                          <a:ea typeface="Lato"/>
                          <a:cs typeface="Lato"/>
                          <a:sym typeface="Lato"/>
                        </a:rPr>
                        <a:t>1047</a:t>
                      </a:r>
                      <a:endParaRPr b="1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latin typeface="Lato"/>
                          <a:ea typeface="Lato"/>
                          <a:cs typeface="Lato"/>
                          <a:sym typeface="Lato"/>
                        </a:rPr>
                        <a:t>$556,581</a:t>
                      </a:r>
                      <a:endParaRPr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latin typeface="Lato"/>
                          <a:ea typeface="Lato"/>
                          <a:cs typeface="Lato"/>
                          <a:sym typeface="Lato"/>
                        </a:rPr>
                        <a:t>$459,516</a:t>
                      </a:r>
                      <a:endParaRPr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latin typeface="Lato"/>
                          <a:ea typeface="Lato"/>
                          <a:cs typeface="Lato"/>
                          <a:sym typeface="Lato"/>
                        </a:rPr>
                        <a:t>9</a:t>
                      </a:r>
                      <a:endParaRPr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9" name="Google Shape;219;p24"/>
          <p:cNvSpPr txBox="1"/>
          <p:nvPr/>
        </p:nvSpPr>
        <p:spPr>
          <a:xfrm>
            <a:off x="5120640" y="3657600"/>
            <a:ext cx="3566100" cy="82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5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All three are under-predicted; two are in NridgHt</a:t>
            </a:r>
            <a:endParaRPr sz="15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20" name="Google Shape;220;p24"/>
          <p:cNvSpPr txBox="1"/>
          <p:nvPr/>
        </p:nvSpPr>
        <p:spPr>
          <a:xfrm>
            <a:off x="457200" y="4617720"/>
            <a:ext cx="82296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000">
                <a:solidFill>
                  <a:srgbClr val="6B7280"/>
                </a:solidFill>
                <a:latin typeface="Lato"/>
                <a:ea typeface="Lato"/>
                <a:cs typeface="Lato"/>
                <a:sym typeface="Lato"/>
              </a:rPr>
              <a:t>Elastic Net on the 292 test homes. Overall test MAE $14,423; largest error $137,719 (Id 899).</a:t>
            </a:r>
            <a:endParaRPr sz="1000">
              <a:solidFill>
                <a:srgbClr val="6B7280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5"/>
          <p:cNvSpPr txBox="1"/>
          <p:nvPr/>
        </p:nvSpPr>
        <p:spPr>
          <a:xfrm>
            <a:off x="457200" y="201168"/>
            <a:ext cx="8229600" cy="107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800" b="1">
                <a:solidFill>
                  <a:srgbClr val="1F2937"/>
                </a:solidFill>
                <a:latin typeface="Merriweather"/>
                <a:ea typeface="Merriweather"/>
                <a:cs typeface="Merriweather"/>
                <a:sym typeface="Merriweather"/>
              </a:rPr>
              <a:t>Prior studies find linear models close to tree ensembles on housing data</a:t>
            </a:r>
            <a:endParaRPr sz="2800" b="1">
              <a:solidFill>
                <a:srgbClr val="1F2937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graphicFrame>
        <p:nvGraphicFramePr>
          <p:cNvPr id="226" name="Google Shape;226;p25"/>
          <p:cNvGraphicFramePr/>
          <p:nvPr/>
        </p:nvGraphicFramePr>
        <p:xfrm>
          <a:off x="457200" y="1325880"/>
          <a:ext cx="8229550" cy="2438370"/>
        </p:xfrm>
        <a:graphic>
          <a:graphicData uri="http://schemas.openxmlformats.org/drawingml/2006/table">
            <a:tbl>
              <a:tblPr>
                <a:noFill/>
                <a:tableStyleId>{7FB88B2B-F026-4F9C-AE6C-60BBE9297B5A}</a:tableStyleId>
              </a:tblPr>
              <a:tblGrid>
                <a:gridCol w="2194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b="1">
                          <a:latin typeface="Lato"/>
                          <a:ea typeface="Lato"/>
                          <a:cs typeface="Lato"/>
                          <a:sym typeface="Lato"/>
                        </a:rPr>
                        <a:t>Study</a:t>
                      </a:r>
                      <a:endParaRPr b="1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b="1">
                          <a:latin typeface="Lato"/>
                          <a:ea typeface="Lato"/>
                          <a:cs typeface="Lato"/>
                          <a:sym typeface="Lato"/>
                        </a:rPr>
                        <a:t>Data</a:t>
                      </a:r>
                      <a:endParaRPr b="1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b="1">
                          <a:latin typeface="Lato"/>
                          <a:ea typeface="Lato"/>
                          <a:cs typeface="Lato"/>
                          <a:sym typeface="Lato"/>
                        </a:rPr>
                        <a:t>Models</a:t>
                      </a:r>
                      <a:endParaRPr b="1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b="1">
                          <a:latin typeface="Lato"/>
                          <a:ea typeface="Lato"/>
                          <a:cs typeface="Lato"/>
                          <a:sym typeface="Lato"/>
                        </a:rPr>
                        <a:t>Test R²</a:t>
                      </a:r>
                      <a:endParaRPr b="1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b="1">
                          <a:latin typeface="Lato"/>
                          <a:ea typeface="Lato"/>
                          <a:cs typeface="Lato"/>
                          <a:sym typeface="Lato"/>
                        </a:rPr>
                        <a:t>Sharma et al. 2024</a:t>
                      </a:r>
                      <a:endParaRPr b="1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latin typeface="Lato"/>
                          <a:ea typeface="Lato"/>
                          <a:cs typeface="Lato"/>
                          <a:sym typeface="Lato"/>
                        </a:rPr>
                        <a:t>Ames, 2,930</a:t>
                      </a:r>
                      <a:endParaRPr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latin typeface="Lato"/>
                          <a:ea typeface="Lato"/>
                          <a:cs typeface="Lato"/>
                          <a:sym typeface="Lato"/>
                        </a:rPr>
                        <a:t>LR, RF, SVR, XGB, MLP</a:t>
                      </a:r>
                      <a:endParaRPr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latin typeface="Lato"/>
                          <a:ea typeface="Lato"/>
                          <a:cs typeface="Lato"/>
                          <a:sym typeface="Lato"/>
                        </a:rPr>
                        <a:t>XGB 0.930, LR 0.910</a:t>
                      </a:r>
                      <a:endParaRPr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b="1">
                          <a:latin typeface="Lato"/>
                          <a:ea typeface="Lato"/>
                          <a:cs typeface="Lato"/>
                          <a:sym typeface="Lato"/>
                        </a:rPr>
                        <a:t>Ho et al. 2021</a:t>
                      </a:r>
                      <a:endParaRPr b="1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latin typeface="Lato"/>
                          <a:ea typeface="Lato"/>
                          <a:cs typeface="Lato"/>
                          <a:sym typeface="Lato"/>
                        </a:rPr>
                        <a:t>Hong Kong, ~40,000</a:t>
                      </a:r>
                      <a:endParaRPr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latin typeface="Lato"/>
                          <a:ea typeface="Lato"/>
                          <a:cs typeface="Lato"/>
                          <a:sym typeface="Lato"/>
                        </a:rPr>
                        <a:t>SVM, RF, GBM</a:t>
                      </a:r>
                      <a:endParaRPr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latin typeface="Lato"/>
                          <a:ea typeface="Lato"/>
                          <a:cs typeface="Lato"/>
                          <a:sym typeface="Lato"/>
                        </a:rPr>
                        <a:t>GBM 0.904</a:t>
                      </a:r>
                      <a:endParaRPr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b="1">
                          <a:latin typeface="Lato"/>
                          <a:ea typeface="Lato"/>
                          <a:cs typeface="Lato"/>
                          <a:sym typeface="Lato"/>
                        </a:rPr>
                        <a:t>Limsombunchai 2004</a:t>
                      </a:r>
                      <a:endParaRPr b="1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latin typeface="Lato"/>
                          <a:ea typeface="Lato"/>
                          <a:cs typeface="Lato"/>
                          <a:sym typeface="Lato"/>
                        </a:rPr>
                        <a:t>Christchurch, 200</a:t>
                      </a:r>
                      <a:endParaRPr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latin typeface="Lato"/>
                          <a:ea typeface="Lato"/>
                          <a:cs typeface="Lato"/>
                          <a:sym typeface="Lato"/>
                        </a:rPr>
                        <a:t>Hedonic, ANN</a:t>
                      </a:r>
                      <a:endParaRPr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latin typeface="Lato"/>
                          <a:ea typeface="Lato"/>
                          <a:cs typeface="Lato"/>
                          <a:sym typeface="Lato"/>
                        </a:rPr>
                        <a:t>ANN 0.900</a:t>
                      </a:r>
                      <a:endParaRPr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b="1">
                          <a:latin typeface="Lato"/>
                          <a:ea typeface="Lato"/>
                          <a:cs typeface="Lato"/>
                          <a:sym typeface="Lato"/>
                        </a:rPr>
                        <a:t>This work</a:t>
                      </a:r>
                      <a:endParaRPr b="1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>
                    <a:solidFill>
                      <a:srgbClr val="E3EC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latin typeface="Lato"/>
                          <a:ea typeface="Lato"/>
                          <a:cs typeface="Lato"/>
                          <a:sym typeface="Lato"/>
                        </a:rPr>
                        <a:t>Ames (Kaggle), 1,460</a:t>
                      </a:r>
                      <a:endParaRPr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>
                    <a:solidFill>
                      <a:srgbClr val="E3EC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>
                          <a:latin typeface="Lato"/>
                          <a:ea typeface="Lato"/>
                          <a:cs typeface="Lato"/>
                          <a:sym typeface="Lato"/>
                        </a:rPr>
                        <a:t>EN, RF</a:t>
                      </a:r>
                      <a:endParaRPr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>
                    <a:solidFill>
                      <a:srgbClr val="E3EC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b="1">
                          <a:latin typeface="Lato"/>
                          <a:ea typeface="Lato"/>
                          <a:cs typeface="Lato"/>
                          <a:sym typeface="Lato"/>
                        </a:rPr>
                        <a:t>EN 0.935, RF 0.905</a:t>
                      </a:r>
                      <a:endParaRPr b="1">
                        <a:latin typeface="Lato"/>
                        <a:ea typeface="Lato"/>
                        <a:cs typeface="Lato"/>
                        <a:sym typeface="Lato"/>
                      </a:endParaRPr>
                    </a:p>
                  </a:txBody>
                  <a:tcPr marL="91425" marR="91425" marT="91425" marB="91425">
                    <a:solidFill>
                      <a:srgbClr val="E3EC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27" name="Google Shape;227;p25"/>
          <p:cNvSpPr txBox="1"/>
          <p:nvPr/>
        </p:nvSpPr>
        <p:spPr>
          <a:xfrm>
            <a:off x="457200" y="3794760"/>
            <a:ext cx="82296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500" b="1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What we add: pre-sale inputs only, a sealed test set, and a significance test against a strong baseline</a:t>
            </a:r>
            <a:endParaRPr sz="1500" b="1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28" name="Google Shape;228;p25"/>
          <p:cNvSpPr txBox="1"/>
          <p:nvPr/>
        </p:nvSpPr>
        <p:spPr>
          <a:xfrm>
            <a:off x="457200" y="4617720"/>
            <a:ext cx="8229600" cy="41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000">
                <a:solidFill>
                  <a:srgbClr val="6B7280"/>
                </a:solidFill>
                <a:latin typeface="Lato"/>
                <a:ea typeface="Lato"/>
                <a:cs typeface="Lato"/>
                <a:sym typeface="Lato"/>
              </a:rPr>
              <a:t>Ames rows are sales; Christchurch rows are listings. R² is on each study's own data and scale, so values are not directly comparable.</a:t>
            </a:r>
            <a:endParaRPr sz="1000">
              <a:solidFill>
                <a:srgbClr val="6B7280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26"/>
          <p:cNvSpPr txBox="1"/>
          <p:nvPr/>
        </p:nvSpPr>
        <p:spPr>
          <a:xfrm>
            <a:off x="457200" y="201168"/>
            <a:ext cx="8229600" cy="107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800" b="1">
                <a:solidFill>
                  <a:srgbClr val="1F2937"/>
                </a:solidFill>
                <a:latin typeface="Merriweather"/>
                <a:ea typeface="Merriweather"/>
                <a:cs typeface="Merriweather"/>
                <a:sym typeface="Merriweather"/>
              </a:rPr>
              <a:t>Team contributions</a:t>
            </a:r>
            <a:endParaRPr sz="2800" b="1">
              <a:solidFill>
                <a:srgbClr val="1F2937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34" name="Google Shape;234;p26"/>
          <p:cNvSpPr/>
          <p:nvPr/>
        </p:nvSpPr>
        <p:spPr>
          <a:xfrm>
            <a:off x="457200" y="1143000"/>
            <a:ext cx="4023300" cy="731400"/>
          </a:xfrm>
          <a:prstGeom prst="roundRect">
            <a:avLst>
              <a:gd name="adj" fmla="val 16667"/>
            </a:avLst>
          </a:prstGeom>
          <a:solidFill>
            <a:srgbClr val="E3EC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26"/>
          <p:cNvSpPr txBox="1"/>
          <p:nvPr/>
        </p:nvSpPr>
        <p:spPr>
          <a:xfrm>
            <a:off x="566928" y="1124712"/>
            <a:ext cx="3840600" cy="40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b="1">
                <a:solidFill>
                  <a:srgbClr val="2F5D7C"/>
                </a:solidFill>
                <a:latin typeface="Lato"/>
                <a:ea typeface="Lato"/>
                <a:cs typeface="Lato"/>
                <a:sym typeface="Lato"/>
              </a:rPr>
              <a:t>P1 · Data  李宗穎</a:t>
            </a:r>
            <a:endParaRPr b="1">
              <a:solidFill>
                <a:srgbClr val="2F5D7C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36" name="Google Shape;236;p26"/>
          <p:cNvSpPr txBox="1"/>
          <p:nvPr/>
        </p:nvSpPr>
        <p:spPr>
          <a:xfrm>
            <a:off x="566928" y="1472184"/>
            <a:ext cx="3840600" cy="40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1F2937"/>
                </a:solidFill>
                <a:latin typeface="Lato"/>
                <a:ea typeface="Lato"/>
                <a:cs typeface="Lato"/>
                <a:sym typeface="Lato"/>
              </a:rPr>
              <a:t>Data checks, preprocessing, fixed split</a:t>
            </a:r>
            <a:endParaRPr>
              <a:solidFill>
                <a:srgbClr val="1F2937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37" name="Google Shape;237;p26"/>
          <p:cNvSpPr/>
          <p:nvPr/>
        </p:nvSpPr>
        <p:spPr>
          <a:xfrm>
            <a:off x="4663440" y="1143000"/>
            <a:ext cx="4023300" cy="731400"/>
          </a:xfrm>
          <a:prstGeom prst="roundRect">
            <a:avLst>
              <a:gd name="adj" fmla="val 16667"/>
            </a:avLst>
          </a:prstGeom>
          <a:solidFill>
            <a:srgbClr val="E3EC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8" name="Google Shape;238;p26"/>
          <p:cNvSpPr txBox="1"/>
          <p:nvPr/>
        </p:nvSpPr>
        <p:spPr>
          <a:xfrm>
            <a:off x="4773168" y="1124712"/>
            <a:ext cx="3840600" cy="40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b="1">
                <a:solidFill>
                  <a:srgbClr val="2F5D7C"/>
                </a:solidFill>
                <a:latin typeface="Lato"/>
                <a:ea typeface="Lato"/>
                <a:cs typeface="Lato"/>
                <a:sym typeface="Lato"/>
              </a:rPr>
              <a:t>P2 · EDA  張翊鞍</a:t>
            </a:r>
            <a:endParaRPr b="1">
              <a:solidFill>
                <a:srgbClr val="2F5D7C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39" name="Google Shape;239;p26"/>
          <p:cNvSpPr txBox="1"/>
          <p:nvPr/>
        </p:nvSpPr>
        <p:spPr>
          <a:xfrm>
            <a:off x="4773168" y="1472184"/>
            <a:ext cx="3840600" cy="40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1F2937"/>
                </a:solidFill>
                <a:latin typeface="Lato"/>
                <a:ea typeface="Lato"/>
                <a:cs typeface="Lato"/>
                <a:sym typeface="Lato"/>
              </a:rPr>
              <a:t>EDA, hypotheses H1 to H3, features</a:t>
            </a:r>
            <a:endParaRPr>
              <a:solidFill>
                <a:srgbClr val="1F2937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40" name="Google Shape;240;p26"/>
          <p:cNvSpPr/>
          <p:nvPr/>
        </p:nvSpPr>
        <p:spPr>
          <a:xfrm>
            <a:off x="457200" y="1929384"/>
            <a:ext cx="4023300" cy="731400"/>
          </a:xfrm>
          <a:prstGeom prst="roundRect">
            <a:avLst>
              <a:gd name="adj" fmla="val 16667"/>
            </a:avLst>
          </a:prstGeom>
          <a:solidFill>
            <a:srgbClr val="E3EC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26"/>
          <p:cNvSpPr txBox="1"/>
          <p:nvPr/>
        </p:nvSpPr>
        <p:spPr>
          <a:xfrm>
            <a:off x="566928" y="1911096"/>
            <a:ext cx="3840600" cy="40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b="1">
                <a:solidFill>
                  <a:srgbClr val="2F5D7C"/>
                </a:solidFill>
                <a:latin typeface="Lato"/>
                <a:ea typeface="Lato"/>
                <a:cs typeface="Lato"/>
                <a:sym typeface="Lato"/>
              </a:rPr>
              <a:t>P3 · Model  范瀞予</a:t>
            </a:r>
            <a:endParaRPr b="1">
              <a:solidFill>
                <a:srgbClr val="2F5D7C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42" name="Google Shape;242;p26"/>
          <p:cNvSpPr txBox="1"/>
          <p:nvPr/>
        </p:nvSpPr>
        <p:spPr>
          <a:xfrm>
            <a:off x="566928" y="2258568"/>
            <a:ext cx="3840600" cy="40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1F2937"/>
                </a:solidFill>
                <a:latin typeface="Lato"/>
                <a:ea typeface="Lato"/>
                <a:cs typeface="Lato"/>
                <a:sym typeface="Lato"/>
              </a:rPr>
              <a:t>Models, ablation, final test, statistics</a:t>
            </a:r>
            <a:endParaRPr>
              <a:solidFill>
                <a:srgbClr val="1F2937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43" name="Google Shape;243;p26"/>
          <p:cNvSpPr/>
          <p:nvPr/>
        </p:nvSpPr>
        <p:spPr>
          <a:xfrm>
            <a:off x="4663440" y="1929384"/>
            <a:ext cx="4023300" cy="731400"/>
          </a:xfrm>
          <a:prstGeom prst="roundRect">
            <a:avLst>
              <a:gd name="adj" fmla="val 16667"/>
            </a:avLst>
          </a:prstGeom>
          <a:solidFill>
            <a:srgbClr val="E3EC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26"/>
          <p:cNvSpPr txBox="1"/>
          <p:nvPr/>
        </p:nvSpPr>
        <p:spPr>
          <a:xfrm>
            <a:off x="4773168" y="1911096"/>
            <a:ext cx="3840600" cy="40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b="1">
                <a:solidFill>
                  <a:srgbClr val="2F5D7C"/>
                </a:solidFill>
                <a:latin typeface="Lato"/>
                <a:ea typeface="Lato"/>
                <a:cs typeface="Lato"/>
                <a:sym typeface="Lato"/>
              </a:rPr>
              <a:t>I1 · Story  劉嘉豪</a:t>
            </a:r>
            <a:endParaRPr b="1">
              <a:solidFill>
                <a:srgbClr val="2F5D7C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45" name="Google Shape;245;p26"/>
          <p:cNvSpPr txBox="1"/>
          <p:nvPr/>
        </p:nvSpPr>
        <p:spPr>
          <a:xfrm>
            <a:off x="4773168" y="2258568"/>
            <a:ext cx="3840600" cy="40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1F2937"/>
                </a:solidFill>
                <a:latin typeface="Lato"/>
                <a:ea typeface="Lato"/>
                <a:cs typeface="Lato"/>
                <a:sym typeface="Lato"/>
              </a:rPr>
              <a:t>Use case, research question, threshold</a:t>
            </a:r>
            <a:endParaRPr>
              <a:solidFill>
                <a:srgbClr val="1F2937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46" name="Google Shape;246;p26"/>
          <p:cNvSpPr/>
          <p:nvPr/>
        </p:nvSpPr>
        <p:spPr>
          <a:xfrm>
            <a:off x="457200" y="2715768"/>
            <a:ext cx="4023300" cy="731400"/>
          </a:xfrm>
          <a:prstGeom prst="roundRect">
            <a:avLst>
              <a:gd name="adj" fmla="val 16667"/>
            </a:avLst>
          </a:prstGeom>
          <a:solidFill>
            <a:srgbClr val="E3EC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26"/>
          <p:cNvSpPr txBox="1"/>
          <p:nvPr/>
        </p:nvSpPr>
        <p:spPr>
          <a:xfrm>
            <a:off x="566928" y="2697480"/>
            <a:ext cx="3840600" cy="40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b="1">
                <a:solidFill>
                  <a:srgbClr val="2F5D7C"/>
                </a:solidFill>
                <a:latin typeface="Lato"/>
                <a:ea typeface="Lato"/>
                <a:cs typeface="Lato"/>
                <a:sym typeface="Lato"/>
              </a:rPr>
              <a:t>I2 · Results  周懷聖</a:t>
            </a:r>
            <a:endParaRPr b="1">
              <a:solidFill>
                <a:srgbClr val="2F5D7C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48" name="Google Shape;248;p26"/>
          <p:cNvSpPr txBox="1"/>
          <p:nvPr/>
        </p:nvSpPr>
        <p:spPr>
          <a:xfrm>
            <a:off x="566928" y="3044952"/>
            <a:ext cx="3840600" cy="40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1F2937"/>
                </a:solidFill>
                <a:latin typeface="Lato"/>
                <a:ea typeface="Lato"/>
                <a:cs typeface="Lato"/>
                <a:sym typeface="Lato"/>
              </a:rPr>
              <a:t>Results Master Sheet, figures, tables</a:t>
            </a:r>
            <a:endParaRPr>
              <a:solidFill>
                <a:srgbClr val="1F2937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49" name="Google Shape;249;p26"/>
          <p:cNvSpPr/>
          <p:nvPr/>
        </p:nvSpPr>
        <p:spPr>
          <a:xfrm>
            <a:off x="4663440" y="2715768"/>
            <a:ext cx="4023300" cy="731400"/>
          </a:xfrm>
          <a:prstGeom prst="roundRect">
            <a:avLst>
              <a:gd name="adj" fmla="val 16667"/>
            </a:avLst>
          </a:prstGeom>
          <a:solidFill>
            <a:srgbClr val="E3EC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0" name="Google Shape;250;p26"/>
          <p:cNvSpPr txBox="1"/>
          <p:nvPr/>
        </p:nvSpPr>
        <p:spPr>
          <a:xfrm>
            <a:off x="4773168" y="2697480"/>
            <a:ext cx="3840600" cy="40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b="1">
                <a:solidFill>
                  <a:srgbClr val="2F5D7C"/>
                </a:solidFill>
                <a:latin typeface="Lato"/>
                <a:ea typeface="Lato"/>
                <a:cs typeface="Lato"/>
                <a:sym typeface="Lato"/>
              </a:rPr>
              <a:t>I3 · Slides  陳家祥</a:t>
            </a:r>
            <a:endParaRPr b="1">
              <a:solidFill>
                <a:srgbClr val="2F5D7C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51" name="Google Shape;251;p26"/>
          <p:cNvSpPr txBox="1"/>
          <p:nvPr/>
        </p:nvSpPr>
        <p:spPr>
          <a:xfrm>
            <a:off x="4773168" y="3044952"/>
            <a:ext cx="3840600" cy="40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>
                <a:solidFill>
                  <a:srgbClr val="1F2937"/>
                </a:solidFill>
                <a:latin typeface="Lato"/>
                <a:ea typeface="Lato"/>
                <a:cs typeface="Lato"/>
                <a:sym typeface="Lato"/>
              </a:rPr>
              <a:t>Slides, README, repository, submission</a:t>
            </a:r>
            <a:endParaRPr>
              <a:solidFill>
                <a:srgbClr val="1F2937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52" name="Google Shape;252;p26"/>
          <p:cNvSpPr/>
          <p:nvPr/>
        </p:nvSpPr>
        <p:spPr>
          <a:xfrm>
            <a:off x="2468850" y="3584400"/>
            <a:ext cx="4023300" cy="731400"/>
          </a:xfrm>
          <a:prstGeom prst="roundRect">
            <a:avLst>
              <a:gd name="adj" fmla="val 16667"/>
            </a:avLst>
          </a:prstGeom>
          <a:solidFill>
            <a:srgbClr val="E3EC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3" name="Google Shape;253;p26"/>
          <p:cNvSpPr txBox="1"/>
          <p:nvPr/>
        </p:nvSpPr>
        <p:spPr>
          <a:xfrm>
            <a:off x="2578578" y="3566112"/>
            <a:ext cx="3840600" cy="40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b="1">
                <a:solidFill>
                  <a:srgbClr val="2F5D7C"/>
                </a:solidFill>
                <a:latin typeface="Lato"/>
                <a:ea typeface="Lato"/>
                <a:cs typeface="Lato"/>
                <a:sym typeface="Lato"/>
              </a:rPr>
              <a:t>W1 · Presenter  陳柏淮</a:t>
            </a:r>
            <a:endParaRPr b="1">
              <a:solidFill>
                <a:srgbClr val="2F5D7C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54" name="Google Shape;254;p26"/>
          <p:cNvSpPr txBox="1"/>
          <p:nvPr/>
        </p:nvSpPr>
        <p:spPr>
          <a:xfrm>
            <a:off x="2578578" y="3913584"/>
            <a:ext cx="3840600" cy="40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zh-TW" dirty="0">
                <a:solidFill>
                  <a:srgbClr val="1F2937"/>
                </a:solidFill>
                <a:latin typeface="Lato"/>
                <a:ea typeface="Lato"/>
                <a:cs typeface="Lato"/>
                <a:sym typeface="Lato"/>
              </a:rPr>
              <a:t>Intro, related work, conclusion</a:t>
            </a:r>
            <a:r>
              <a:rPr lang="en-US" altLang="zh-TW" dirty="0">
                <a:solidFill>
                  <a:srgbClr val="1F2937"/>
                </a:solidFill>
                <a:latin typeface="Lato"/>
                <a:ea typeface="Lato"/>
                <a:cs typeface="Lato"/>
                <a:sym typeface="Lato"/>
              </a:rPr>
              <a:t>, </a:t>
            </a:r>
            <a:r>
              <a:rPr lang="zh-TW" altLang="zh-TW" dirty="0">
                <a:solidFill>
                  <a:srgbClr val="1F2937"/>
                </a:solidFill>
                <a:latin typeface="Lato"/>
                <a:ea typeface="Lato"/>
                <a:cs typeface="Lato"/>
                <a:sym typeface="Lato"/>
              </a:rPr>
              <a:t>results, analysis</a:t>
            </a:r>
            <a:r>
              <a:rPr lang="en-US" altLang="zh-TW" dirty="0">
                <a:solidFill>
                  <a:srgbClr val="1F2937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endParaRPr dirty="0">
              <a:solidFill>
                <a:srgbClr val="1F2937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58" name="Google Shape;258;p26"/>
          <p:cNvSpPr txBox="1"/>
          <p:nvPr/>
        </p:nvSpPr>
        <p:spPr>
          <a:xfrm>
            <a:off x="457200" y="4315968"/>
            <a:ext cx="82296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000">
                <a:solidFill>
                  <a:srgbClr val="6B7280"/>
                </a:solidFill>
                <a:latin typeface="Lato"/>
                <a:ea typeface="Lato"/>
                <a:cs typeface="Lato"/>
                <a:sym typeface="Lato"/>
              </a:rPr>
              <a:t>AI tools: Claude for related-work checks and drafting; ChatGPT and Codex for organizing files and tables. The team chose the task, features, models and threshold, ran all experiments and verified every number.</a:t>
            </a:r>
            <a:endParaRPr sz="1000">
              <a:solidFill>
                <a:srgbClr val="6B7280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AFA"/>
        </a:solidFill>
        <a:effectLst/>
      </p:bgPr>
    </p:bg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27"/>
          <p:cNvSpPr txBox="1"/>
          <p:nvPr/>
        </p:nvSpPr>
        <p:spPr>
          <a:xfrm>
            <a:off x="457200" y="201168"/>
            <a:ext cx="8229600" cy="107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2800" b="1">
                <a:solidFill>
                  <a:srgbClr val="1F2937"/>
                </a:solidFill>
                <a:latin typeface="Merriweather"/>
                <a:ea typeface="Merriweather"/>
                <a:cs typeface="Merriweather"/>
                <a:sym typeface="Merriweather"/>
              </a:rPr>
              <a:t>Yes: a linear model stays within $15,000 and beats Random Forest</a:t>
            </a:r>
            <a:endParaRPr sz="2800" b="1">
              <a:solidFill>
                <a:srgbClr val="1F2937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64" name="Google Shape;264;p27"/>
          <p:cNvSpPr txBox="1"/>
          <p:nvPr/>
        </p:nvSpPr>
        <p:spPr>
          <a:xfrm>
            <a:off x="457200" y="1325880"/>
            <a:ext cx="393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800" b="1">
                <a:solidFill>
                  <a:srgbClr val="2F5D7C"/>
                </a:solidFill>
                <a:latin typeface="Merriweather"/>
                <a:ea typeface="Merriweather"/>
                <a:cs typeface="Merriweather"/>
                <a:sym typeface="Merriweather"/>
              </a:rPr>
              <a:t>What we showed</a:t>
            </a:r>
            <a:endParaRPr sz="1800" b="1">
              <a:solidFill>
                <a:srgbClr val="2F5D7C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65" name="Google Shape;265;p27"/>
          <p:cNvSpPr txBox="1"/>
          <p:nvPr/>
        </p:nvSpPr>
        <p:spPr>
          <a:xfrm>
            <a:off x="457200" y="1737360"/>
            <a:ext cx="3931800" cy="21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Lato"/>
              <a:buChar char="●"/>
            </a:pPr>
            <a:r>
              <a:rPr lang="zh-TW" sz="15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Pre-sale setup with no sale date, type or condition</a:t>
            </a:r>
            <a:endParaRPr sz="15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Lato"/>
              <a:buChar char="●"/>
            </a:pPr>
            <a:r>
              <a:rPr lang="zh-TW" sz="15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EDA hypotheses tested by ablation: QualityArea cut CV RMSE 5.7%</a:t>
            </a:r>
            <a:endParaRPr sz="15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Lato"/>
              <a:buChar char="●"/>
            </a:pPr>
            <a:r>
              <a:rPr lang="zh-TW" sz="15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Elastic Net: test MAE $14,423, $1,961 below Random Forest (p = 0.017)</a:t>
            </a:r>
            <a:endParaRPr sz="15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66" name="Google Shape;266;p27"/>
          <p:cNvSpPr txBox="1"/>
          <p:nvPr/>
        </p:nvSpPr>
        <p:spPr>
          <a:xfrm>
            <a:off x="4754880" y="1325880"/>
            <a:ext cx="393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800" b="1">
                <a:solidFill>
                  <a:srgbClr val="2F5D7C"/>
                </a:solidFill>
                <a:latin typeface="Merriweather"/>
                <a:ea typeface="Merriweather"/>
                <a:cs typeface="Merriweather"/>
                <a:sym typeface="Merriweather"/>
              </a:rPr>
              <a:t>Limitations</a:t>
            </a:r>
            <a:endParaRPr sz="1800" b="1">
              <a:solidFill>
                <a:srgbClr val="2F5D7C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67" name="Google Shape;267;p27"/>
          <p:cNvSpPr txBox="1"/>
          <p:nvPr/>
        </p:nvSpPr>
        <p:spPr>
          <a:xfrm>
            <a:off x="4754880" y="1737360"/>
            <a:ext cx="3931800" cy="210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Lato"/>
              <a:buChar char="●"/>
            </a:pPr>
            <a:r>
              <a:rPr lang="zh-TW" sz="15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One city, sales from 2006 to 2010</a:t>
            </a:r>
            <a:endParaRPr sz="15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Lato"/>
              <a:buChar char="●"/>
            </a:pPr>
            <a:r>
              <a:rPr lang="zh-TW" sz="15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Under-prices high-end homes (quality ≥ 8: MAE $27,636)</a:t>
            </a:r>
            <a:endParaRPr sz="15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Lato"/>
              <a:buChar char="●"/>
            </a:pPr>
            <a:r>
              <a:rPr lang="zh-TW" sz="15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Threshold bounds the average; largest error $137,719</a:t>
            </a:r>
            <a:endParaRPr sz="15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  <a:p>
            <a:pPr marL="457200" lvl="0" indent="-32385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Lato"/>
              <a:buChar char="●"/>
            </a:pPr>
            <a:r>
              <a:rPr lang="zh-TW" sz="1500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CV slightly optimistic: same folds used for tuning</a:t>
            </a:r>
            <a:endParaRPr sz="1500"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68" name="Google Shape;268;p27"/>
          <p:cNvSpPr/>
          <p:nvPr/>
        </p:nvSpPr>
        <p:spPr>
          <a:xfrm>
            <a:off x="457200" y="3977640"/>
            <a:ext cx="8229600" cy="640200"/>
          </a:xfrm>
          <a:prstGeom prst="roundRect">
            <a:avLst>
              <a:gd name="adj" fmla="val 16667"/>
            </a:avLst>
          </a:prstGeom>
          <a:solidFill>
            <a:srgbClr val="E3EC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9" name="Google Shape;269;p27"/>
          <p:cNvSpPr txBox="1"/>
          <p:nvPr/>
        </p:nvSpPr>
        <p:spPr>
          <a:xfrm>
            <a:off x="594360" y="4069080"/>
            <a:ext cx="7955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TW" sz="1500" b="1">
                <a:solidFill>
                  <a:srgbClr val="2F5D7C"/>
                </a:solidFill>
                <a:latin typeface="Lato"/>
                <a:ea typeface="Lato"/>
                <a:cs typeface="Lato"/>
                <a:sym typeface="Lato"/>
              </a:rPr>
              <a:t>Next: add a new-construction flag to cut error on high-end homes</a:t>
            </a:r>
            <a:endParaRPr sz="1500" b="1">
              <a:solidFill>
                <a:srgbClr val="2F5D7C"/>
              </a:solidFill>
              <a:latin typeface="Lato"/>
              <a:ea typeface="Lato"/>
              <a:cs typeface="Lato"/>
              <a:sym typeface="Lat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2678</Words>
  <Application>Microsoft Macintosh PowerPoint</Application>
  <PresentationFormat>如螢幕大小 (16:9)</PresentationFormat>
  <Paragraphs>290</Paragraphs>
  <Slides>15</Slides>
  <Notes>15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15</vt:i4>
      </vt:variant>
    </vt:vector>
  </HeadingPairs>
  <TitlesOfParts>
    <vt:vector size="20" baseType="lpstr">
      <vt:lpstr>Merriweather</vt:lpstr>
      <vt:lpstr>Noto Sans TC</vt:lpstr>
      <vt:lpstr>Arial</vt:lpstr>
      <vt:lpstr>Lato</vt:lpstr>
      <vt:lpstr>Simple Light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周懷聖</cp:lastModifiedBy>
  <cp:revision>3</cp:revision>
  <dcterms:modified xsi:type="dcterms:W3CDTF">2026-10-18T14:41:19Z</dcterms:modified>
</cp:coreProperties>
</file>