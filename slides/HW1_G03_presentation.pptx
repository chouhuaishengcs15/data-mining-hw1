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Noto Sans TC"/>
      <p:regular r:id="rId26"/>
      <p:bold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B88B2B-F026-4F9C-AE6C-60BBE9297B5A}">
  <a:tblStyle styleId="{7FB88B2B-F026-4F9C-AE6C-60BBE9297B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regular.fntdata"/><Relationship Id="rId21" Type="http://schemas.openxmlformats.org/officeDocument/2006/relationships/slide" Target="slides/slide15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otoSansTC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NotoSansT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0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0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【W1｜10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大家好，我們是第 3 組。題目是在房子成交前預測成交價，資料是 Ames Housing，方法是可解釋的線性迴歸。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0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0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【W1｜30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情境是物件準備上架、還沒成交的時候。賣方和房仲要決定開價，買方要判斷開價合不合理。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選線性模型，是因為每個係數都能解讀成某個房屋條件值多少錢，使用者看得懂估價偏高或偏低的原因。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s03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s03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任務定義：預測 SalePrice（美元），一筆資料是一次成交。輸入是 73 個房屋條件，加上我們設計的 QualityArea。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預測時間點是上架時，所以成交年月、交易類型、交易條件，以及要用成交年份才算得出的屋齡都不用。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研究問題：只用這些資訊，正則化線性模型能不能把 test MAE 控制在 15,000 美元內，而且不輸 Random Forest？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04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04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資料共 1,460 筆，固定切成 1,168 / 292。只在 training 刪掉 2 筆異常值（居住面積超過 4,000 平方英尺、總價卻低於 30 萬美元），剩 1,166 筆，再固定切成 5 折，全組共用。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 set 封存，只評一次。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05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05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EDA 只用 training。品質 × 居住面積（QualityArea）和 log 房價的 r = 0.836，比單獨的品質 0.813、面積 0.719 都高。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直覺是：同樣一坪，蓋得越好的房子越值錢。由此提出 H1 到 H3，第 10 張用 ablation 驗證。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06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06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【W2｜40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流程：補值、序位編碼 → 加入 QualityArea、Box-Cox、RobustScaler、one-hot → Elastic Net 預測 log 價格 → expm1 轉回美元。所有要從資料學的步驟，都只在 training fold 內 fit。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 Elastic Net，是因為 214 個欄位共線性強，L1 + L2 能收縮也能挑特徵；α 和 l1_ratio 用 5 折 CV 在 training 上選。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ch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ch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我們遇到三個問題。第一是資料洩漏：成交後才知道的欄位要拿掉。第二是共線性：one-hot 後有 214 欄、VIF 最高到 67，所以不用一般 OLS。第三是房價右偏：偏態 1.74，取 log 後降到 0.12，誤差仍用美元報告。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走過的冤枉路：只留 MI 前 20 名特徵，CV RMSE 反而變差 18%。意外的是，線性模型在 test 上贏過 Random Forest。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sev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sev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所有模型用同一組 5 折 CV 調參和比較，test 只在設定凍結後評一次。主要指標是美元 MAE，因為它直接對應開價的誤差。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Baseline 由弱到強：平均值、只用居住面積的 OLS、Random Forest。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15,000 美元的門檻是最終模型 CV MAE 的 mean + 2 SD 取整，在跑 test 之前就定好，大約是房價中位數的 9%。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07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07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【W2｜45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只有 Elastic Net 通過門檻：test MAE 14,423，R² 0.935；CV 是 13,366 ± 809，兩者一致。三個 baseline 都沒過，Random Forest 是 16,384。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和 Random Forest 比，每筆少 1,961 美元，95% CI 不含 0，permutation test p = 0.017。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補充：Lasso 在 CV 上和 Elastic Net 差不多，所以我們不說 Elastic Net 贏過所有線性模型。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08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08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Ablation 固定用 Ridge 和同樣的 5 折，只換特徵。H1 加入 QualityArea，RMSE 降 5.7%，5 折全部改善，所以採用。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H2、H3 只改善約 1%，沒有放進最終模型。只取 MI 前 20 名反而變差 18%。最終特徵是全部原始欄位加上 QualityArea。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09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09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【W2｜25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標準化係數最大的是 QualityArea、居住面積、建造年份，這 7 個的 bootstrap 95% CI 都不含 0。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但 VIF 很高，所以只解讀成關聯，不是獨立的因果效果；Holm 校正後也沒有係數維持顯著。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s10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s10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【W2｜35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品質 ≥ 8 的房子 MAE 是 27,636，是其他組的兩倍。誤差最大的三筆都是品質 8 到 9，而且都被低估，其中兩筆在 NridgHt。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可能原因是高品質新屋或特定社區的溢價，訓練資料裡這類房子少。這是推測，不是驗證過的因果。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s1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s1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【W1｜30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Sharma 2024 同樣用 Ames，XGBoost R² 0.930、線性迴歸 0.910，差距很小。Ho 2021 和 Limsombunchai 2004 用的是其他城市。各篇的資料和尺度不同，R² 不能直接比大小。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我們多做的：只用成交前資訊、test 封存只評一次、和強 baseline 做顯著性檢定。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stm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stm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【W1｜15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這是每位組員負責的部分。AI 工具的使用方式寫在下方，所有數字都由組員核對過。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s1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s1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【W1｜35 秒】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答案是 yes。Elastic Net 的 test MAE 是 14,423 美元，通過 15,000 門檻，而且比 Random Forest 每筆少 1,961。最有幫助的是品質 × 面積的交互作用。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建議：一般住宅可以拿模型當開價起點；高品質或新建住宅誤差較大，要保留議價空間或找正式鑑價。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限制：單一城市、2006 到 2010 年；MAE 是平均值；CV 略為樂觀。下一步是加入新成屋指標。謝謝大家。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31520" y="137160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Pricing a Home Before It Sells</a:t>
            </a:r>
            <a:endParaRPr b="1" sz="36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31520" y="233172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D6E0E8"/>
                </a:solidFill>
                <a:latin typeface="Lato"/>
                <a:ea typeface="Lato"/>
                <a:cs typeface="Lato"/>
                <a:sym typeface="Lato"/>
              </a:rPr>
              <a:t>Interpretable linear regression on the Ames housing data</a:t>
            </a:r>
            <a:endParaRPr sz="1800">
              <a:solidFill>
                <a:srgbClr val="D6E0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31520" y="3108960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9FB3C4"/>
                </a:solidFill>
                <a:latin typeface="Lato"/>
                <a:ea typeface="Lato"/>
                <a:cs typeface="Lato"/>
                <a:sym typeface="Lato"/>
              </a:rPr>
              <a:t>Data Mining HW1  ·  Group 3  ·  October 2026</a:t>
            </a:r>
            <a:endParaRPr>
              <a:solidFill>
                <a:srgbClr val="9FB3C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D6E0E8"/>
                </a:solidFill>
                <a:latin typeface="Noto Sans TC"/>
                <a:ea typeface="Noto Sans TC"/>
                <a:cs typeface="Noto Sans TC"/>
                <a:sym typeface="Noto Sans TC"/>
              </a:rPr>
              <a:t>周懷聖　范瀞予　陳湋昱　李宗穎　劉嘉豪　張翊鞍　陳柏淮　陳家祥</a:t>
            </a:r>
            <a:endParaRPr sz="1500">
              <a:solidFill>
                <a:srgbClr val="D6E0E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Sellers need a price estimate at listing time, before any sale data exists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5720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59436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Who uses it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9436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Sellers and agents setting an asking price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Buyers checking whether a listing is fair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29184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42900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What it decides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900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Asking price for sellers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Whether to negotiate or verify for buyers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126480" y="1417320"/>
            <a:ext cx="2560200" cy="3017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6263640" y="15544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Why linear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263640" y="2057400"/>
            <a:ext cx="2286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Each coefficient reads as the value of one house attribute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Users can see why an estimate is high or low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We predict a home's sale price at listing time, from house attributes only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77" name="Google Shape;77;p15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1371600"/>
                <a:gridCol w="6858000"/>
              </a:tblGrid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Item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Definition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Target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SalePrice in USD; training range $34,900 to $745,000, median $165,000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One row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One house sale in Ames, Iowa, 2006 to 2010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Inputs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73 house attributes (size, quality, rooms, neighborhood) + QualityArea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Known at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Listing time; excluded: sale date, type, condition, age from sale year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" name="Google Shape;78;p15"/>
          <p:cNvSpPr/>
          <p:nvPr/>
        </p:nvSpPr>
        <p:spPr>
          <a:xfrm>
            <a:off x="457200" y="3657600"/>
            <a:ext cx="8229600" cy="8688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94360" y="3721608"/>
            <a:ext cx="7955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Research question: using only pre-sale attributes, can a regularized linear model keep test MAE within $15,000 and do no worse than a Random Forest?</a:t>
            </a:r>
            <a:endParaRPr b="1" sz="15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1,460 Ames sales, split once, with the test set sealed until the end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5720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54864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1,460 sales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4864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Ames, Iowa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2006 to 2010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28600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9748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278892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Train 1,168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78892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80% split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seed 42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52628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937760" y="1371600"/>
            <a:ext cx="18288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5029200" y="146304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Train 1,166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029200" y="1874520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 outliers removed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(Id 524, 1299)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6766560" y="178308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b="1" sz="20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178040" y="1371600"/>
            <a:ext cx="1508700" cy="13716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7269480" y="146304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5 folds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7269480" y="1874520"/>
            <a:ext cx="132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232 to 234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homes each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697480" y="3017520"/>
            <a:ext cx="5989200" cy="7773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2834640" y="3090672"/>
            <a:ext cx="576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Test 292 sales: never used for EDA, tuning or model choice; scored once after all settings were frozen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57200" y="3017520"/>
            <a:ext cx="2011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Target: SalePrice (USD), modeled as log1p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Inputs: 73 house attributes + QualityArea, one-hot encoded to 214 columns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Source: Kaggle House Prices: Advanced Regression Techniques; De Cock (2011). Outliers: living area &gt; 4,000 sq ft and price &lt; $300,000.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 × living area tracks price more closely than either alone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10" name="Google Shape;110;p17"/>
          <p:cNvGraphicFramePr/>
          <p:nvPr/>
        </p:nvGraphicFramePr>
        <p:xfrm>
          <a:off x="521208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1828800"/>
                <a:gridCol w="1645900"/>
              </a:tblGrid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Pearson r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QualityArea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0.836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OverallQual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0.813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GrLivArea</a:t>
                      </a:r>
                      <a:endParaRPr b="1"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0.719</a:t>
                      </a:r>
                      <a:endParaRPr>
                        <a:solidFill>
                          <a:srgbClr val="1F2937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17"/>
          <p:cNvSpPr txBox="1"/>
          <p:nvPr/>
        </p:nvSpPr>
        <p:spPr>
          <a:xfrm>
            <a:off x="5212080" y="297180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Hypotheses from EDA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212080" y="338328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H1: add QualityArea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H2: log-transform LotArea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H3: merge 3 area columns into TotalSF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Training data only (n = 1,166). QualityArea = OverallQual × GrLivArea. </a:t>
            </a: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Ablation on slide 10 tests the hypotheses.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25880"/>
            <a:ext cx="4572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Every learned step is fitted inside the training folds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632" y="1280160"/>
            <a:ext cx="5888765" cy="27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457200" y="40233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Model choice: Elastic Net, since the 214 one-hot columns are highly collinear; L1 + L2 shrinks and selects. α = 0.0032 and l1_ratio = 0.1 chosen by 5-fold CV on training data.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Leakage, collinearity and skewed prices shaped the design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57200" y="1325880"/>
            <a:ext cx="2560200" cy="2240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59436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Leakage</a:t>
            </a:r>
            <a:endParaRPr b="1" sz="17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94360" y="18745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Sale date, type and condition are known only after the sale.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Fix: drop them, and the age computed from the sale year.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291840" y="1325880"/>
            <a:ext cx="2560200" cy="2240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Collinearity</a:t>
            </a:r>
            <a:endParaRPr b="1" sz="17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3429000" y="18745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214 one-hot columns; area and quality columns overlap (VIF up to 67).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Fix: Elastic Net shrinks and selects instead of plain OLS.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126480" y="1325880"/>
            <a:ext cx="2560200" cy="2240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6263640" y="14173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Skewed prices</a:t>
            </a:r>
            <a:endParaRPr b="1" sz="17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6263640" y="18745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Price skew 1.74; a few expensive homes dominate squared error.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Fix: model log1p(price) (skew 0.12), report errors in USD.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57200" y="3749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Dead end: keeping only the MI Top-20 features raised CV RMSE by 18%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Surprise: the linear model beat Random Forest on the test set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All models share the same folds, metrics and a $15,000 MAE threshold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457200" y="1325880"/>
            <a:ext cx="2743200" cy="3154800"/>
          </a:xfrm>
          <a:prstGeom prst="roundRect">
            <a:avLst>
              <a:gd fmla="val 16667" name="adj"/>
            </a:avLst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548640" y="1645920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$15,000</a:t>
            </a:r>
            <a:endParaRPr b="1" sz="36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94360" y="246888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 MAE threshold, fixed before the final test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594360" y="3383280"/>
            <a:ext cx="246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CV mean + 2 SD (14,985), rounded up; about 9% of the median price</a:t>
            </a:r>
            <a:endParaRPr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3474720" y="132588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Protocol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663440" y="1325880"/>
            <a:ext cx="4023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Fixed 5-fold CV on 1,166 training homes; learned steps fit inside each fold. Test scored once, after all settings were frozen.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3474720" y="233172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Metrics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663440" y="2331720"/>
            <a:ext cx="4023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MAE in USD as the primary metric, plus RMSE and R². Predictions are converted back with expm1 first.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3474720" y="320040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Baselines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4663440" y="3200400"/>
            <a:ext cx="4023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Training mean; single-feature OLS on GrLivArea; Random Forest on raw features.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474720" y="384048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Ablation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663440" y="3840480"/>
            <a:ext cx="4023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Same model, folds and tuning; only the feature set changes (slide 10).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Elastic Net is the only model under the $15,000 threshold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59" name="Google Shape;159;p21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2011675"/>
                <a:gridCol w="960100"/>
                <a:gridCol w="960100"/>
                <a:gridCol w="777225"/>
                <a:gridCol w="777225"/>
              </a:tblGrid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CV MAE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Test MAE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≤ $15k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Mean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$56,392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$62,580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Single-feature OLS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$37,160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$38,474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0.57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$16,554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$16,384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0.90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Elastic Net (ours)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$13,366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$14,423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0.93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Yes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1"/>
          <p:cNvSpPr txBox="1"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CV and test agree: $13,366 ± 809 in CV, $14,423 on 292 test homes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Test RMSE $22,340; R² 0.935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217920" y="1325880"/>
            <a:ext cx="2469000" cy="3200400"/>
          </a:xfrm>
          <a:prstGeom prst="roundRect">
            <a:avLst>
              <a:gd fmla="val 16667" name="adj"/>
            </a:avLst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6309360" y="155448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−$1,961</a:t>
            </a:r>
            <a:endParaRPr b="1" sz="3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6355080" y="228600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lower MAE per home than Random Forest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Test set evaluated once. Single-feature OLS uses GrLivArea. CI: paired bootstrap; p: paired permutation test on the 292 test homes.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6217920" y="329184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95% CI: −$3,847 to −$399</a:t>
            </a:r>
            <a:endParaRPr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E3ECF3"/>
                </a:solidFill>
                <a:latin typeface="Lato"/>
                <a:ea typeface="Lato"/>
                <a:cs typeface="Lato"/>
                <a:sym typeface="Lato"/>
              </a:rPr>
              <a:t>permutation p = 0.017</a:t>
            </a:r>
            <a:endParaRPr>
              <a:solidFill>
                <a:srgbClr val="E3ECF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Only the quality × area interaction improved all five folds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71" name="Google Shape;171;p22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2651750"/>
                <a:gridCol w="1737350"/>
                <a:gridCol w="822950"/>
                <a:gridCol w="30175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Change tested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ΔCV RMSE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Folds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Decision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H1: add QualityArea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−$1,222 (−5.7%)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5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Kept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H2: LotArea → log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−$241 (−1.1%)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4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Dropped: Box-Cox covers it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H3: 3 area columns → TotalSF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−$235 (−1.1%)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3 / 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Dropped: small gain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Keep only MI Top-20 features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+$3,909 (+18%)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n/a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Dropped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2" name="Google Shape;172;p22"/>
          <p:cNvSpPr txBox="1"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Final features: all raw attributes + QualityArea. CV MAE $13,366, vs $13,750 with raw attributes alone.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H1 to H3: Ridge (α = 10), log1p target, same 5 folds. MI Top-20: Elastic Net vs all raw features.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Quality, living area and build year carry the largest coefficients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457200" y="132588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QualityArea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2011680" y="1371600"/>
            <a:ext cx="2926200" cy="274200"/>
          </a:xfrm>
          <a:prstGeom prst="rect">
            <a:avLst/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4983480" y="132588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0.077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457200" y="176479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GrLivArea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2011680" y="1810512"/>
            <a:ext cx="2682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740273" y="1764792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0.071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57200" y="2203704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YearBuilt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2011680" y="2249424"/>
            <a:ext cx="26676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4725073" y="2203704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0.070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57200" y="2642616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OverallCond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2011680" y="2688336"/>
            <a:ext cx="17670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3824448" y="2642616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0.047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57200" y="3081528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LotArea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011680" y="3127248"/>
            <a:ext cx="1443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3501439" y="3081528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0.038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457200" y="352044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OverallQual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2011680" y="3566160"/>
            <a:ext cx="13719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3429238" y="352044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0.036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457200" y="395935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TotalBsmtSF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2011680" y="4005072"/>
            <a:ext cx="1219800" cy="2742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3277233" y="3959352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0.032</a:t>
            </a:r>
            <a:endParaRPr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6035040" y="1371600"/>
            <a:ext cx="2651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All seven have bootstrap 95% CIs that exclude 0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High VIF (GrLivArea 58, QualityArea 33): read as associations, not separate effects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None stays significant after Holm correction</a:t>
            </a:r>
            <a:endParaRPr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Standardized coefficient: change in log1p(price) per training SD. CIs from 1,000 bootstrap resamples.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Errors double for high-quality homes, which the model under-prices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457200" y="1325880"/>
            <a:ext cx="448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Test MAE by overall quality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274320" y="18288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≤ 5 (n = 123)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2560320" y="1874520"/>
            <a:ext cx="586800" cy="3201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3192876" y="18470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$11,085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274320" y="25146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6 to 7 (n = 124)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2560320" y="2560320"/>
            <a:ext cx="684900" cy="320100"/>
          </a:xfrm>
          <a:prstGeom prst="rect">
            <a:avLst/>
          </a:prstGeom>
          <a:solidFill>
            <a:srgbClr val="A9B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3290973" y="25328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$12,938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274320" y="320040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Quality ≥ 8 (n = 45)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2560320" y="3246120"/>
            <a:ext cx="1463100" cy="320100"/>
          </a:xfrm>
          <a:prstGeom prst="rect">
            <a:avLst/>
          </a:prstGeom>
          <a:solidFill>
            <a:srgbClr val="2F5D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4069080" y="3218688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$27,636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5120640" y="132588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Largest test errors</a:t>
            </a:r>
            <a:endParaRPr b="1" sz="16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5120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685800"/>
                <a:gridCol w="1051550"/>
                <a:gridCol w="1051550"/>
                <a:gridCol w="822950"/>
              </a:tblGrid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Actual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Predicted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Quality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899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$611,657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$473,938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775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$395,000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$295,840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1047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$556,581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$459,516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9" name="Google Shape;219;p24"/>
          <p:cNvSpPr txBox="1"/>
          <p:nvPr/>
        </p:nvSpPr>
        <p:spPr>
          <a:xfrm>
            <a:off x="5120640" y="3657600"/>
            <a:ext cx="356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 three are under-predicted; two are in NridgHt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Elastic Net on the 292 test homes. Overall test MAE $14,423; largest error $137,719 (Id 899).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Prior studies find linear models close to tree ensembles on housing data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226" name="Google Shape;226;p25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{7FB88B2B-F026-4F9C-AE6C-60BBE9297B5A}</a:tableStyleId>
              </a:tblPr>
              <a:tblGrid>
                <a:gridCol w="2194550"/>
                <a:gridCol w="2103100"/>
                <a:gridCol w="21031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Study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Data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Models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Test R²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Sharma et al. 2024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Ames, 2,930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LR, RF, SVR, XGB, MLP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XGB 0.930, LR 0.910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Ho et al. 2021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Hong Kong, ~40,000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SVM, RF, GBM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GBM 0.904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Limsombunchai 2004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Christchurch, 200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Hedonic, ANN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ANN 0.900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This work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Ames (Kaggle), 1,460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EN, RF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Lato"/>
                          <a:ea typeface="Lato"/>
                          <a:cs typeface="Lato"/>
                          <a:sym typeface="Lato"/>
                        </a:rPr>
                        <a:t>EN 0.935, RF 0.905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E3ECF3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5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we add: pre-sale inputs only, a sealed test set, and a significance test against a strong baseline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457200" y="46177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Ames rows are sales; Christchurch rows are listings. R² is on each study's own data and scale, so values are not directly comparable.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Team contributions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457200" y="1143000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566928" y="1124712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P1 · Data  李宗穎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566928" y="147218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Data checks, preprocessing, fixed split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4663440" y="1143000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4773168" y="1124712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P2 · EDA  張翊鞍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4773168" y="147218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EDA, hypotheses H1 to H3, features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457200" y="1929384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566928" y="191109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P3 · Model  范瀞予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566928" y="2258568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Models, ablation, final test, statistics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663440" y="1929384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4773168" y="191109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I1 · Story  劉嘉豪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4773168" y="2258568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Use case, research question, threshold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457200" y="2715768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566928" y="2697480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I2 · Results  周懷聖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566928" y="3044952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Results Master Sheet, figures, tables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4663440" y="2715768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4773168" y="2697480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I3 · Slides  陳家祥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4773168" y="3044952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Slides, README, repository, submission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457200" y="3502152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566928" y="348386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W1 · Presenter  陳柏淮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566928" y="383133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Intro, related work, conclusion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4663440" y="3502152"/>
            <a:ext cx="4023300" cy="7314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4773168" y="348386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W2 · Presenter  陳湋昱</a:t>
            </a:r>
            <a:endParaRPr b="1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4773168" y="383133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Data, method, results, analysis</a:t>
            </a:r>
            <a:endParaRPr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AI tools: Claude for related-work checks and drafting; ChatGPT and Codex for organizing files and tables. The team chose the task, features, models and threshold, ran all experiments and verified every number.</a:t>
            </a:r>
            <a:endParaRPr sz="1000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/>
        </p:nvSpPr>
        <p:spPr>
          <a:xfrm>
            <a:off x="457200" y="201168"/>
            <a:ext cx="822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Yes: a linear model stays within $15,000 and beats Random Forest</a:t>
            </a:r>
            <a:endParaRPr b="1" sz="2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457200" y="132588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showed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457200" y="1737360"/>
            <a:ext cx="393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Pre-sale setup with no sale date, type or condition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EDA hypotheses tested by ablation: QualityArea cut CV RMSE 5.7%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Elastic Net: test MAE $14,423, $1,961 below Random Forest (p = 0.017)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4754880" y="132588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2F5D7C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 b="1" sz="1800">
              <a:solidFill>
                <a:srgbClr val="2F5D7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4754880" y="1737360"/>
            <a:ext cx="393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One city, sales from 2006 to 2010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Under-prices high-end homes (quality ≥ 8: MAE $27,636)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Threshold bounds the average; largest error $137,719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zh-TW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CV slightly optimistic: same folds used for tuning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457200" y="3977640"/>
            <a:ext cx="8229600" cy="640200"/>
          </a:xfrm>
          <a:prstGeom prst="roundRect">
            <a:avLst>
              <a:gd fmla="val 16667" name="adj"/>
            </a:avLst>
          </a:prstGeom>
          <a:solidFill>
            <a:srgbClr val="E3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594360" y="4069080"/>
            <a:ext cx="795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2F5D7C"/>
                </a:solidFill>
                <a:latin typeface="Lato"/>
                <a:ea typeface="Lato"/>
                <a:cs typeface="Lato"/>
                <a:sym typeface="Lato"/>
              </a:rPr>
              <a:t>Next: add a new-construction flag to cut error on high-end homes</a:t>
            </a:r>
            <a:endParaRPr b="1" sz="1500">
              <a:solidFill>
                <a:srgbClr val="2F5D7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