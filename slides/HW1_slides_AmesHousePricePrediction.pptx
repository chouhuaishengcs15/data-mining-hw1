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3A7321-8C31-4B2F-8595-8B2EE2D40F4C}">
  <a:tblStyle styleId="{A73A7321-8C31-4B2F-8595-8B2EE2D40F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0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0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【W1｜約 10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大家好，我們這組的題目是在房子成交前預測它的成交價，資料是 Ames Housing，方法是可解釋的線性迴歸。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0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0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【W1｜約 40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我們的使用情境是「物件準備上架、還沒成交」的時間點。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主要使用者是要開價的賣方和房仲，次要是想判斷開價合不合理的買方。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因為是成交前估價，我們刻意排除成交年月、交易類型、交易條件，以及要用成交年份才算得出來的屋齡，避免用到預測當下拿不到的資訊。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03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03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【W1｜約 40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研究問題：只用成交前的房屋條件，正則化線性模型能不能把平均誤差控制在 15,000 美元內，而且不輸 Random Forest？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門檻怎麼來：最終模型 5-fold CV 的 MAE 是 13,366 ± 809，取 mean + 2SD 約 14,985，往上取整成 15,000，而且在跑 Final Test 前就固定，之後沒有改。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它大約是房價中位數的 9%，而三個 baseline 在 CV 都過不了，所以這個門檻有鑑別力。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04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04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40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資料是 Kaggle 的 Ames Housing，1,460 筆、2006 到 2010 年的成交紀錄。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我們先固定切成 training 1,168、test 292；只在 training 刪掉 2 筆異常值（Id 524、1299，地上居住面積超過 4,000 平方英尺但總價低於 30 萬美元），剩 1,166 筆，再固定切成 5 折，全組共用同一份切分。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 set 完全封存，不參與 EDA、調參或選模型，只在最後評分一次。Target 是 SalePrice，模型用 log1p 訓練。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05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05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45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EDA 只用 training data。我們發現「整體品質 × 地上居住面積」這個交互作用 QualityArea，和 log 房價的 Pearson r 是 0.836，比品質（0.813）或面積（0.719）單獨都高。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直覺是：同樣多一坪，蓋得越好的房子，這一坪越值錢。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依 EDA 提出三個假設：H1 加入 QualityArea；H2 土地面積取 log；H3 把三個面積欄位合併成 TotalSF。相關性只是動機，真正有沒有幫助要看後面的 ablation。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06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06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45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這是完整流程。前處理補缺值、序位編碼，再加入 QualityArea，做 Box-Cox、RobustScaler、one-hot。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模型是 Elastic Net，預測 log1p(SalePrice)，再用 expm1 轉回美元算誤差。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重點是下面兩格：CV 時所有要從資料學的步驟都只在 4 折上 fit；設定全部凍結後，才用 1,166 筆重新訓練，對 292 筆 test 預測一次。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 Elastic Net 的原因：one-hot 後維度高、面積與品質之間共線性強，Elastic Net 同時有收縮和特徵選擇，係數也比較穩定。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07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07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60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主結果。四個模型用同樣的 5 折 CV 和同一份 test set 比較。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baseline 的 test MAE 是 62,580，只用居住面積的 OLS 是 38,474，Random Forest 是 16,384，三個都沒過 15,000 門檻。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Net 的 test MAE 是 14,423，R² 0.935，是唯一通過門檻的模型；而且 CV（13,366 ± 809）和 test 的結果一致，沒有明顯 overfitting。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和 Random Forest 比，每筆平均少 1,961 美元，paired bootstrap 的 95% CI 是 −3,847 到 −399，不含 0；permutation test p = 0.017。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補充：Lasso 在 CV 上和 Elastic Net 幾乎一樣，所以我們不宣稱 EN 贏過所有線性模型。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08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08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45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 ablation 驗證 EDA 的三個假設，固定用 Ridge、同樣的 5 折。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H1 加入 QualityArea，RMSE 降 1,222 美元、約 5.7%，而且 5 折全部改善，所以採用。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H2、H3 都只改善約 1%：H2 的效果 P1 的 Box-Cox 已經涵蓋；H3 改善太小。所以兩個都沒放進最終模型。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另外，只保留 MI 前 20 名特徵反而變差 18%，代表只靠相關性排名挑特徵會丟掉太多資訊。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09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09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30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係數分析。標準化後係數最大的是 QualityArea、居住面積和建造年份，接著是整體狀況、土地面積、品質和地下室面積，這七個的 bootstrap 95% CI 都不含 0。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但要注意 VIF 很高，例如 GrLivArea 58、QualityArea 33，彼此高度相關，所以我們只把係數解讀成「和房價的關聯」，不是單一特徵的獨立因果效果；Holm 校正後也沒有係數維持顯著。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10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10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【W2｜約 50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誤差分析。依整體品質分組，品質 ≤ 5 和 6–7 的 MAE 大約一萬一到一萬三，但品質 ≥ 8 的高品質住宅 MAE 是 27,636，是兩倍以上。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 test 中誤差最大的三筆，都是品質 8–9 的房子、而且都被低估，其中兩筆在 NridgHt 社區；最大誤差 Id 899 低估了約 13.8 萬美元。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可能原因是高品質新屋、特定社區的溢價，訓練資料中這類樣本少，線性模型抓不到；這是可能解釋，不是驗證過的因果。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我們遇到的主要挑戰：高維 one-hot 加上共線性，以及高價房的右偏分布，這也是我們選 log target 和 Elastic Net 的原因。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s1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s1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【W1｜約 45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相關研究。和我們最接近的是 Sharma 2024，同樣用 Ames（完整 2,930 筆），XGBoost R² 0.930、線性迴歸 0.910，兩者差距很小。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 2021 用香港二手房，GBM 最好；Limsombunchai 2004 用紐西蘭的刊登價，ANN 比 hedonic 模型好很多。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要提醒：各篇資料和 target 尺度不同，R² 不能直接比大小。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我們的差異：明確只用成交前可取得的資訊、test set 封存只評一次，並且和強 baseline 做統計檢定。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1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1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【W1｜約 40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結論：答案是 yes。只用成交前的房屋條件，Elastic Net 的 test MAE 是 14,423 美元，通過 15,000 門檻，而且比 Random Forest 每筆少 1,961 美元。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最有幫助的是品質 × 面積的交互作用。對一般住宅，模型可以當作開價的起點；但高品質、新建住宅誤差較大，應該保留更大的議價空間或找正式鑑價。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限制：只有一個城市、2006–2010 年的資料；MAE 是平均，個別房子誤差可能很大；同一組 fold 同時用來調參，CV 會略為樂觀。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下一步是加入新成屋的指標，看能不能改善高價新屋的低估。謝謝大家。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31520" y="137160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Pricing a Home Before It Sells</a:t>
            </a:r>
            <a:endParaRPr b="1" sz="36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31520" y="233172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D6E0E8"/>
                </a:solidFill>
                <a:latin typeface="Lato"/>
                <a:ea typeface="Lato"/>
                <a:cs typeface="Lato"/>
                <a:sym typeface="Lato"/>
              </a:rPr>
              <a:t>Interpretable linear regression on the Ames housing data</a:t>
            </a:r>
            <a:endParaRPr sz="1800">
              <a:solidFill>
                <a:srgbClr val="D6E0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31520" y="3108960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9FB3C4"/>
                </a:solidFill>
                <a:latin typeface="Lato"/>
                <a:ea typeface="Lato"/>
                <a:cs typeface="Lato"/>
                <a:sym typeface="Lato"/>
              </a:rPr>
              <a:t>Data Mining HW1</a:t>
            </a:r>
            <a:endParaRPr>
              <a:solidFill>
                <a:srgbClr val="9FB3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9FB3C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rgbClr val="9FB3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9FB3C4"/>
                </a:solidFill>
                <a:latin typeface="Lato"/>
                <a:ea typeface="Lato"/>
                <a:cs typeface="Lato"/>
                <a:sym typeface="Lato"/>
              </a:rPr>
              <a:t>周懷聖、范瀞予、陳湋昱、李宗穎、劉嘉豪、張翊鞍、陳柏淮、陳家祥</a:t>
            </a:r>
            <a:endParaRPr>
              <a:solidFill>
                <a:srgbClr val="9FB3C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Sellers need a price estimate at listing time, before any sale data exists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5720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9436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Who uses it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9436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Sellers and agents setting an asking price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Buyers checking whether a listing is fair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29184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342900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What it decides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900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Asking price for sellers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Whether to negotiate or verify for buyers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12648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626364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What it may use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26364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House attributes known at listing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Not used: sale date, sale type, sale condition, age from sale year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Can a linear model keep the average error under $15,000?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57200" y="1371600"/>
            <a:ext cx="3017400" cy="3108900"/>
          </a:xfrm>
          <a:prstGeom prst="roundRect">
            <a:avLst>
              <a:gd fmla="val 16667" name="adj"/>
            </a:avLst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94360" y="1783080"/>
            <a:ext cx="2743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$15,000</a:t>
            </a:r>
            <a:endParaRPr b="1" sz="40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94360" y="2697480"/>
            <a:ext cx="274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test MAE threshold,</a:t>
            </a:r>
            <a:endParaRPr sz="1600"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fixed before the final test</a:t>
            </a:r>
            <a:endParaRPr sz="1600"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840480" y="1325880"/>
            <a:ext cx="4846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Using only pre-sale attributes, can a regularized linear model keep test MAE within $15,000 and do no worse than a Random Forest?</a:t>
            </a:r>
            <a:endParaRPr b="1" sz="17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840480" y="269748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Why $15,000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840480" y="3154680"/>
            <a:ext cx="4846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CV mean + 2 SD of the final model (14,985), rounded up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About 9% of the median training price ($165,000)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All three baselines miss it in CV (Random Forest $16,554)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1,460 Ames sales, split once, with the test set sealed until the end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5720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54864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1,460 sales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4864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Ames, Iowa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2006 to 2010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228600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69748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278892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Train 1,168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278892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80% split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seed 42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52628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93776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02920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Train 1,166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02920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 outliers removed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(Id 524, 1299)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76656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178040" y="1371600"/>
            <a:ext cx="15087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7269480" y="146304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5 folds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7269480" y="187452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232 to 234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homes each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697480" y="3017520"/>
            <a:ext cx="5989200" cy="7773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2834640" y="3090672"/>
            <a:ext cx="576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Test 292 sales: never used for EDA, tuning or model choice; scored once after all settings were frozen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57200" y="3017520"/>
            <a:ext cx="2011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Target: SalePrice (USD), modeled as log1p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Inputs: 73 house attributes + QualityArea, one-hot encoded to 214 columns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Source: Kaggle House Prices: Advanced Regression Techniques; De Cock (2011). Outliers: living area &gt; 4,000 sq ft and price &lt; $300,000.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 × living area tracks price more closely than either alone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521208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{A73A7321-8C31-4B2F-8595-8B2EE2D40F4C}</a:tableStyleId>
              </a:tblPr>
              <a:tblGrid>
                <a:gridCol w="1828800"/>
                <a:gridCol w="1645900"/>
              </a:tblGrid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Pearson r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QualityArea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0.836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OverallQual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0.813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GrLivArea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0.719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17"/>
          <p:cNvSpPr txBox="1"/>
          <p:nvPr/>
        </p:nvSpPr>
        <p:spPr>
          <a:xfrm>
            <a:off x="5212080" y="297180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Hypotheses from EDA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212080" y="338328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H1: add QualityArea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H2: log-transform LotArea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H3: merge 3 area columns into TotalSF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Training data only (n = 1,166). QualityArea = OverallQual × GrLivArea. Ablation on slide 8 tests the hypotheses.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25880"/>
            <a:ext cx="4572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Every learned step is fitted inside the training folds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944" y="1234488"/>
            <a:ext cx="7754109" cy="3611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Elastic Net is the only model under the $15,000 threshold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28" name="Google Shape;128;p19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{A73A7321-8C31-4B2F-8595-8B2EE2D40F4C}</a:tableStyleId>
              </a:tblPr>
              <a:tblGrid>
                <a:gridCol w="2011675"/>
                <a:gridCol w="960100"/>
                <a:gridCol w="960100"/>
                <a:gridCol w="777225"/>
                <a:gridCol w="777225"/>
              </a:tblGrid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CV MAE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Test MAE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≤ $15k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Mean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$56,392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$62,580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Single-feature OLS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$37,160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$38,474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0.57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$16,554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$16,384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0.90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Elastic Net (ours)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$13,366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$14,423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0.93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Yes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19"/>
          <p:cNvSpPr txBox="1"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CV and test agree: $13,366 ± 809 in CV, $14,423 on 292 test homes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Test RMSE $22,340; R² 0.935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217920" y="1325880"/>
            <a:ext cx="2469000" cy="3200400"/>
          </a:xfrm>
          <a:prstGeom prst="roundRect">
            <a:avLst>
              <a:gd fmla="val 16667" name="adj"/>
            </a:avLst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6309360" y="155448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−$1,961</a:t>
            </a:r>
            <a:endParaRPr b="1" sz="3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6355080" y="228600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lower MAE per home than Random Forest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Test set evaluated once. Single-feature OLS uses GrLivArea. CI: paired bootstrap; p: paired permutation test on the 292 test homes.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6217920" y="329184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95% CI: −$3,847 to −$399</a:t>
            </a:r>
            <a:endParaRPr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permutation p = 0.017</a:t>
            </a:r>
            <a:endParaRPr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Only the quality × area interaction improved all five folds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40" name="Google Shape;140;p20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{A73A7321-8C31-4B2F-8595-8B2EE2D40F4C}</a:tableStyleId>
              </a:tblPr>
              <a:tblGrid>
                <a:gridCol w="2651750"/>
                <a:gridCol w="1737350"/>
                <a:gridCol w="822950"/>
                <a:gridCol w="30175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Change tested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ΔCV RMSE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Folds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Decision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H1: add QualityArea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−$1,222 (−5.7%)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5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Kept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H2: LotArea → log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−$241 (−1.1%)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4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Dropped: Box-Cox covers it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H3: 3 area columns → TotalSF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−$235 (−1.1%)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3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Dropped: small gain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Keep only MI Top-20 features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+$3,909 (+18%)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n/a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0"/>
          <p:cNvSpPr txBox="1"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Final features: all raw attributes + QualityArea. CV MAE $13,366, vs $13,750 with raw attributes alone.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H1 to H3: Ridge (α = 10), log1p target, same 5 folds. MI Top-20: Elastic Net vs all raw features.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Quality, living area and build year carry the largest coefficients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57200" y="132588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QualityArea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2011680" y="1371600"/>
            <a:ext cx="2926200" cy="274200"/>
          </a:xfrm>
          <a:prstGeom prst="rect">
            <a:avLst/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>
            <a:off x="4983480" y="132588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0.077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457200" y="176479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GrLivArea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2011680" y="1810512"/>
            <a:ext cx="2682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4740273" y="1764792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0.071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457200" y="2203704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YearBuilt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011680" y="2249424"/>
            <a:ext cx="26676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4725073" y="2203704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0.070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57200" y="2642616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OverallCond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2011680" y="2688336"/>
            <a:ext cx="17670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3824448" y="2642616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0.047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57200" y="3081528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LotArea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011680" y="3127248"/>
            <a:ext cx="1443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3501439" y="3081528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0.038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457200" y="352044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OverallQual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2011680" y="3566160"/>
            <a:ext cx="1371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3429238" y="352044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0.036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457200" y="395935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TotalBsmtSF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2011680" y="4005072"/>
            <a:ext cx="12198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3277233" y="3959352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0.032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6035040" y="1371600"/>
            <a:ext cx="2651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All seven have bootstrap 95% CIs that exclude 0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High VIF (GrLivArea 58, QualityArea 33): read as associations, not separate effects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None stays significant after Holm correction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Standardized coefficient: change in log1p(price) per training SD. CIs from 1,000 bootstrap resamples.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Errors double for high-quality homes, which the model under-prices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457200" y="1325880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Test MAE by overall quality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274320" y="18288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≤ 5 (n = 123)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2560320" y="1874520"/>
            <a:ext cx="586800" cy="3201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3192876" y="18470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$11,085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74320" y="25146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6 to 7 (n = 124)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2560320" y="2560320"/>
            <a:ext cx="684900" cy="3201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3290973" y="25328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$12,938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274320" y="32004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≥ 8 (n = 45)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2560320" y="3246120"/>
            <a:ext cx="1463100" cy="320100"/>
          </a:xfrm>
          <a:prstGeom prst="rect">
            <a:avLst/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4069080" y="32186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$27,636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120640" y="132588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Largest test errors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7" name="Google Shape;187;p22"/>
          <p:cNvGraphicFramePr/>
          <p:nvPr/>
        </p:nvGraphicFramePr>
        <p:xfrm>
          <a:off x="5120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{A73A7321-8C31-4B2F-8595-8B2EE2D40F4C}</a:tableStyleId>
              </a:tblPr>
              <a:tblGrid>
                <a:gridCol w="685800"/>
                <a:gridCol w="1051550"/>
                <a:gridCol w="1051550"/>
                <a:gridCol w="822950"/>
              </a:tblGrid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Actual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Predicted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Quality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899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$611,657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$473,938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775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$395,000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$295,840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1047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$556,581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$459,516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" name="Google Shape;188;p22"/>
          <p:cNvSpPr txBox="1"/>
          <p:nvPr/>
        </p:nvSpPr>
        <p:spPr>
          <a:xfrm>
            <a:off x="5120640" y="3657600"/>
            <a:ext cx="356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 three are under-predicted; two are in NridgHt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Elastic Net on the 292 test homes. Overall test MAE $14,423; largest error $137,719 (Id 899).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Prior studies find linear models close to tree ensembles on housing data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95" name="Google Shape;195;p23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{A73A7321-8C31-4B2F-8595-8B2EE2D40F4C}</a:tableStyleId>
              </a:tblPr>
              <a:tblGrid>
                <a:gridCol w="2194550"/>
                <a:gridCol w="2103100"/>
                <a:gridCol w="21031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Study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Models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Test R²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Sharma et al. 2024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Ames, 2,930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LR, RF, SVR, XGB, MLP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XGB 0.930, LR 0.910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Ho et al. 2021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Hong Kong, ~40,000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SVM, RF, GBM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GBM 0.904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Limsombunchai 2004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Christchurch, 200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Hedonic, ANN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ANN 0.900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This work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Ames (Kaggle), 1,460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EN, RF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EN 0.935, RF 0.905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23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we add: pre-sale inputs only, a sealed test set, and a significance test against a strong baseline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Ames rows are sales; Christchurch rows are listings. R² is on each study's own data and scale, so values are not directly comparable.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Yes: a linear model stays within $15,000 and beats Random Forest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457200" y="132588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Contributions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457200" y="1737360"/>
            <a:ext cx="393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Pre-sale setup with no sale date, type or condition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EDA hypotheses tested by ablation: QualityArea cut CV RMSE 5.7%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Elastic Net: test MAE $14,423, $1,961 below Random Forest (p = 0.017)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4754880" y="132588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4754880" y="1737360"/>
            <a:ext cx="393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One city, sales from 2006 to 2010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Under-prices high-end homes (quality ≥ 8: MAE $27,636)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Threshold bounds the average; largest error $137,719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CV slightly optimistic: same folds used for tuning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457200" y="3977640"/>
            <a:ext cx="8229600" cy="6402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594360" y="4069080"/>
            <a:ext cx="795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Next: add a new-construction flag to cut error on high-end homes</a:t>
            </a:r>
            <a:endParaRPr b="1" sz="15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